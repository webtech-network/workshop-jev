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12192000"/>
  <p:defaultTextStyle>
    <a:lvl1pPr marL="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theme" Target="theme/theme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524000"/>
            <a:ext cx="5143500" cy="4572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6461760"/>
            <a:ext cx="5486400" cy="438912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240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1158240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Abertura (2 min).
</a:t>
            </a:r>
            <a:br>
              <a:rPr lang="en-US"/>
            </a:br>
            <a:r>
              <a:rPr lang="en-US"/>
              <a:t>O que é: um workshop prático da WebTech. Vamos montar um corretor automático de redações do ENEM usando o modelo Jev e, mais importante, descobrir com números — não com opinião — o quanto ele concorda com corretores humanos.
</a:t>
            </a:r>
            <a:br>
              <a:rPr lang="en-US"/>
            </a:br>
            <a:r>
              <a:rPr lang="en-US"/>
              <a:t>Não precisa de GPU nem de conta paga. A chave da API é minha e vale só para hoje.
</a:t>
            </a:r>
            <a:br>
              <a:rPr lang="en-US"/>
            </a:br>
            <a:r>
              <a:rPr lang="en-US"/>
              <a:t>Este workshop é a versão didática do LAB Jev, o laboratório da WebTech que investigou se o Jev serve como corretor de trabalhos acadêmicos.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Os cinco resultados que a pessoa leva (1 min).
</a:t>
            </a:r>
            <a:br>
              <a:rPr lang="en-US"/>
            </a:br>
            <a:r>
              <a:rPr lang="en-US"/>
              <a:t>A tese do workshop: vocês não vão aprender "usar uma API de IA". Vão aprender a AVALIAR se um modelo funciona — diagnóstico, hipótese, medição e conclusão com ressalva.</a:t>
            </a:r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Agenda (1 min).
</a:t>
            </a:r>
            <a:br>
              <a:rPr lang="en-US"/>
            </a:br>
            <a:r>
              <a:rPr lang="en-US"/>
              <a:t>Só as etapas 3 e 6 gastam chamadas de API — de propósito: a chave é compartilhada pela turma. Todo o resto funciona offline com o cache de referência que já vem no repositório.
</a:t>
            </a:r>
            <a:br>
              <a:rPr lang="en-US"/>
            </a:br>
            <a:r>
              <a:rPr lang="en-US"/>
              <a:t>Se o tempo apertar: corte a revisão cruzada da etapa 7 e peça o PR como tarefa. Nunca corte a etapa 2 nem a baseline da etapa 5.</a:t>
            </a:r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Transição para a parte conceitual (etapa 2 do roteiro, ~20 min).
</a:t>
            </a:r>
            <a:br>
              <a:rPr lang="en-US"/>
            </a:br>
            <a:r>
              <a:rPr lang="en-US"/>
              <a:t>Não pule esta parte: é o que sustenta tudo o que vem depois.</a:t>
            </a:r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Exposição central da etapa 2.
</a:t>
            </a:r>
            <a:br>
              <a:rPr lang="en-US"/>
            </a:br>
            <a:r>
              <a:rPr lang="en-US"/>
              <a:t>"Tipado" quer dizer que o formato da resposta é decidido ANTES da pergunta. Você não recebe "acho que uns 120 pontos, mas depende" — recebe um índice de 0 a 5, sempre, com a probabilidade de cada um.
</a:t>
            </a:r>
            <a:br>
              <a:rPr lang="en-US"/>
            </a:br>
            <a:r>
              <a:rPr lang="en-US"/>
              <a:t>Analogia para repetir: o LLM é um ensaísta que escreve um parecer; o Jev é um avaliador com prancheta que marca X num formulário.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Mostre o balão do LLM e pergunte à turma: "qual é a nota?". Alguém vai dizer 160, outro 140 — esse é o ponto.
</a:t>
            </a:r>
            <a:br>
              <a:rPr lang="en-US"/>
            </a:br>
            <a:r>
              <a:rPr lang="en-US"/>
              <a:t>Com o Jev, a resposta já é estruturada. A confiança vai virar a fila de revisão humana mais tarde.</a:t>
            </a:r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nome vem da psicologia (Kahneman): Sistema 1 é o pensamento rápido e automático; Sistema 2, o lento e deliberativo.
</a:t>
            </a:r>
            <a:br>
              <a:rPr lang="en-US"/>
            </a:br>
            <a:r>
              <a:rPr lang="en-US"/>
              <a:t>Consequência prática que vale repetir: o Jev NÃO consegue redigir feedback para o aluno. Ele só dá as notas. Feedback em texto seria um segundo modelo — e é um dos itens em aberto do laboratório.</a:t>
            </a:r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Três tipos de pergunta: boolean, choice e score. Nós usamos só score, porque cada competência do ENEM tem seis níveis.
</a:t>
            </a:r>
            <a:br>
              <a:rPr lang="en-US"/>
            </a:br>
            <a:r>
              <a:rPr lang="en-US"/>
              <a:t>Curiosidade que já confundiu gente: na documentação nativa o booleano se chama "noul"; pelo gateway da Vercel, é "boolean".</a:t>
            </a:r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Três campos no corpo, e só três: model, state, questions.
</a:t>
            </a:r>
            <a:br>
              <a:rPr lang="en-US"/>
            </a:br>
            <a:r>
              <a:rPr lang="en-US"/>
              <a:t>A palavra para memorizar é "state" — "avalie ESTE estado do mundo contra ESTAS perguntas". Não é messages, não é prompt.
</a:t>
            </a:r>
            <a:br>
              <a:rPr lang="en-US"/>
            </a:br>
            <a:r>
              <a:rPr lang="en-US"/>
              <a:t>O endpoint é /v1/evaluate. Se você mandar este modelo para /v1/chat/completions, a API recusa dizendo que ele é um modelo de avaliação, não de linguagem — prova de que a distinção do slide anterior não é teoria.</a:t>
            </a:r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Este é o pulo do gato do projeto. criteria é uma lista ORDENADA de âncoras; a posição na lista é o nível.
</a:t>
            </a:r>
            <a:br>
              <a:rPr lang="en-US"/>
            </a:br>
            <a:r>
              <a:rPr lang="en-US"/>
              <a:t>Pergunta para discutir: o que acontece se as âncoras não estiverem em ordem crescente? (Resposta: a nota inverte — o experimento 2 do guia de arquitetura deixa o QWK de c1 fortemente negativo.)
</a:t>
            </a:r>
            <a:br>
              <a:rPr lang="en-US"/>
            </a:br>
            <a:r>
              <a:rPr lang="en-US"/>
              <a:t>Separação dados/lógica: quem ajusta a régua (o professor) não precisa saber programar.</a:t>
            </a:r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Resposta real, encurtada para uma competência.
</a:t>
            </a:r>
            <a:br>
              <a:rPr lang="en-US"/>
            </a:br>
            <a:r>
              <a:rPr lang="en-US"/>
              <a:t>Repare: 48% no nível 2 e 43% no nível 3. O modelo está praticamente em dúvida entre 80 e 120 pontos — e diz isso em número, o que permite automatizar a decisão de quando chamar um humano.
</a:t>
            </a:r>
            <a:br>
              <a:rPr lang="en-US"/>
            </a:br>
            <a:r>
              <a:rPr lang="en-US"/>
              <a:t>Não explique o score ainda: pergunte à turma o que eles acham que 2,49 significa.</a:t>
            </a:r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momento mais importante em engenharia (etapa 4).
</a:t>
            </a:r>
            <a:br>
              <a:rPr lang="en-US"/>
            </a:br>
            <a:r>
              <a:rPr lang="en-US"/>
              <a:t>Antes de mostrar a conta: escreva no quadro score 0.51 e as probabilidades 0,50 / 0,49 e pergunte "qual nível o modelo escolheu?". Deixe alguém dizer "o 0,51, então uns 20 pontos". Só então revele que 20 não existe no ENEM.
</a:t>
            </a:r>
            <a:br>
              <a:rPr lang="en-US"/>
            </a:br>
            <a:r>
              <a:rPr lang="en-US"/>
              <a:t>Esse bug pegou o laboratório de verdade: a primeira versão do código tratava score como índice. Nenhuma revisão de código pegou; só a primeira chamada real.
</a:t>
            </a:r>
            <a:br>
              <a:rPr lang="en-US"/>
            </a:br>
            <a:r>
              <a:rPr lang="en-US"/>
              <a:t>Pergunta de fechamento: "quantos bugs assim existem em produção agora, em sistemas que ninguém auditou?"</a:t>
            </a:r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evaluate.py não escolhe uma leitura: guarda as duas, com nomes que dizem o que cada uma é, mais o score bruto e a distribuição inteira.
</a:t>
            </a:r>
            <a:br>
              <a:rPr lang="en-US"/>
            </a:br>
            <a:r>
              <a:rPr lang="en-US"/>
              <a:t>Consequência: "e se eu usar a mediana?", "e se eu descartar empates?" — tudo se responde sem nenhuma chamada nova.</a:t>
            </a:r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diagrama para decorar. Seis níveis × 40 = 200 por competência; cinco competências = 1000. A escala do ENEM cabe exatamente em 6 âncoras — não é coincidência.
</a:t>
            </a:r>
            <a:br>
              <a:rPr lang="en-US"/>
            </a:br>
            <a:r>
              <a:rPr lang="en-US"/>
              <a:t>Pergunta para discutir: o que quebra se a rubrica tiver 5 âncoras em vez de 6? (As notas saem erradas sem nenhum erro na tela.)</a:t>
            </a:r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Leia da esquerda para a direita: é o caminho dos dados. A única seta de mão dupla é a que sai para a internet.
</a:t>
            </a:r>
            <a:br>
              <a:rPr lang="en-US"/>
            </a:br>
            <a:r>
              <a:rPr lang="en-US"/>
              <a:t>sample.py não sabe que o Jev existe; compare.py não sabe o que é HTTP. Dá para trocar o modelo inteiro sem tocar em dois dos três scripts.
</a:t>
            </a:r>
            <a:br>
              <a:rPr lang="en-US"/>
            </a:br>
            <a:r>
              <a:rPr lang="en-US"/>
              <a:t>Nada de pip install: o workshop usa só a biblioteca padrão do Python.</a:t>
            </a:r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Seis padrões, todos visíveis no código do workshop. Cada proteção do evaluate.py existe porque queimou o laboratório: parar no 401/403 evita queimar 100 chamadas com credencial errada; parar em answers vazio evita cache vazio e métrica silenciosamente errada; backoff exponencial no 429 evitou perder 61 de 100 chamadas.</a:t>
            </a:r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Apresente as métricas sem os números do Jev — os números ficam para a etapa 5, depois da baseline.
</a:t>
            </a:r>
            <a:br>
              <a:rPr lang="en-US"/>
            </a:br>
            <a:r>
              <a:rPr lang="en-US"/>
              <a:t>QWK: o "QW" pesa o erro pela distância ao quadrado; o "K" (kappa) desconta a concordância por sorte. Num corpus concentrado, chutar sempre o valor mais comum já acerta bastante.</a:t>
            </a:r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Transição para a parte prática. A partir daqui cada slide ancora uma etapa do roteiro em etapas/.</a:t>
            </a:r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Mande este slide (ou o SETUP.md) para a turma antes do dia. Quem travar chega 15 minutos antes.
</a:t>
            </a:r>
            <a:br>
              <a:rPr lang="en-US"/>
            </a:br>
            <a:r>
              <a:rPr lang="en-US"/>
              <a:t>Os dois comandos de verificação passam SEM a chave e sem o dataset: se passarem, a pessoa está pronta.
</a:t>
            </a:r>
            <a:br>
              <a:rPr lang="en-US"/>
            </a:br>
            <a:r>
              <a:rPr lang="en-US"/>
              <a:t>Problemas mais comuns: python vs python3 no Windows, .env.local salvo como .env.local.txt pelo Bloco de Notas, e UTF-16 do PowerShell.</a:t>
            </a:r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Checagem em voz alta: python3 --version, git config user.email, git check-ignore -v .env.local.
</a:t>
            </a:r>
            <a:br>
              <a:rPr lang="en-US"/>
            </a:br>
            <a:r>
              <a:rPr lang="en-US"/>
              <a:t>Se o terceiro comando não imprimir nada, PARE: a chave pode ser comitada por acidente — é o único erro desta etapa com consequência fora da máquina.
</a:t>
            </a:r>
            <a:br>
              <a:rPr lang="en-US"/>
            </a:br>
            <a:r>
              <a:rPr lang="en-US"/>
              <a:t>Separe quem travou; os outros avançam.</a:t>
            </a:r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Leia as quatro regras antes da etapa 3, que é a primeira a gastar API.
</a:t>
            </a:r>
            <a:br>
              <a:rPr lang="en-US"/>
            </a:br>
            <a:r>
              <a:rPr lang="en-US"/>
              <a:t>Se alguém comitar a chave: revogue imediatamente no painel da Vercel (apagar o commit não remove do histórico), gere outra e redistribua. E use como aula.</a:t>
            </a:r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Projete o --dry-run na tela antes de qualquer um rodar. Três coisas contraintuitivas: não existe messages (o texto vai em state); as 5 competências vão numa requisição só; o endpoint é /v1/evaluate.
</a:t>
            </a:r>
            <a:br>
              <a:rPr lang="en-US"/>
            </a:br>
            <a:r>
              <a:rPr lang="en-US"/>
              <a:t>Limites desta etapa: 1, depois 3. Ninguém roda --limit 100.
</a:t>
            </a:r>
            <a:br>
              <a:rPr lang="en-US"/>
            </a:br>
            <a:r>
              <a:rPr lang="en-US"/>
              <a:t>Deu 429? Normal numa sala cheia: o script faz backoff e o cache retoma de onde parou.
</a:t>
            </a:r>
            <a:br>
              <a:rPr lang="en-US"/>
            </a:br>
            <a:r>
              <a:rPr lang="en-US"/>
              <a:t>Os números podem variar um pouco: o modelo não é estritamente determinístico.</a:t>
            </a:r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Faça a conta 0,51 × 40 = 20 no quadro. Peça o erro ANTES de explicar. Depois volte ao slide "score não é o nível escolhido".
</a:t>
            </a:r>
            <a:br>
              <a:rPr lang="en-US"/>
            </a:br>
            <a:r>
              <a:rPr lang="en-US"/>
              <a:t>Resposta do exercício (spoiler, só depois): 40 de 500 — 8% das decisões são essencialmente cara ou coroa entre duas âncoras.</a:t>
            </a:r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baseline é o clímax da etapa 5. Mostre-a PRIMEIRO, com o Jev escondido.
</a:t>
            </a:r>
            <a:br>
              <a:rPr lang="en-US"/>
            </a:br>
            <a:r>
              <a:rPr lang="en-US"/>
              <a:t>Pergunte se parece bom. Só então avance e revele que o Jev também acerta 5% exato — a diferença está no QWK e no MAE.
</a:t>
            </a:r>
            <a:br>
              <a:rPr lang="en-US"/>
            </a:br>
            <a:r>
              <a:rPr lang="en-US"/>
              <a:t>Comando: python3 compare.py --cache referencia/resultados-referencia-v1.jsonl --sample sample.jsonl</a:t>
            </a:r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Revele agora: o Jev também tem 5% de acerto exato, igual a chutar 600. A diferença está no QWK (0,495 contra 0,000) e no MAE (160 contra 213).
</a:t>
            </a:r>
            <a:br>
              <a:rPr lang="en-US"/>
            </a:br>
            <a:r>
              <a:rPr lang="en-US"/>
              <a:t>Leve para a vida profissional: quando alguém disser "nosso modelo acerta 85%", a primeira pergunta é "e o que acerta chutando sempre a resposta mais comum?".</a:t>
            </a:r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viés total é de +82 pontos, mas não é uniforme: C1 tem sinal oposto às outras.
</a:t>
            </a:r>
            <a:br>
              <a:rPr lang="en-US"/>
            </a:br>
            <a:r>
              <a:rPr lang="en-US"/>
              <a:t>Bloco 4 do compare.py: remover o viés médio é um conserto grátis — C3 sai de 0,18 para 0,35. Mas não faça isso no código: você estaria calibrando em cima destas 100 redações. A calibração é só o diagnóstico que diz onde a rubrica está torta.</a:t>
            </a:r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Peça um palpite em voz alta ANTES de mostrar a tabela. Alguém vai dizer 0,6 ou 0,7.
</a:t>
            </a:r>
            <a:br>
              <a:rPr lang="en-US"/>
            </a:br>
            <a:r>
              <a:rPr lang="en-US"/>
              <a:t>O 0,60 está no rubric.json deles de propósito: o compare.py marca essa linha com "&lt;- rubric.json", e ela aparece pior que não filtrar. É o momento mais eficiente do workshop: o palpite está na tela, reprovado por uma tabela.
</a:t>
            </a:r>
            <a:br>
              <a:rPr lang="en-US"/>
            </a:br>
            <a:r>
              <a:rPr lang="en-US"/>
              <a:t>Abaixo de 0,70 a confiança do Jev não discrimina.</a:t>
            </a:r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Exercício da matriz de confusão de C3 (5.7). Perguntas: quantos níveis ele usa? Redação 0 e redação 200 recebem o mesmo nível? A confiança em C3 é mais alta ou mais baixa que nas outras?
</a:t>
            </a:r>
            <a:br>
              <a:rPr lang="en-US"/>
            </a:br>
            <a:r>
              <a:rPr lang="en-US"/>
              <a:t>Respostas (spoiler): efetivamente 2 níveis, 85% num só; sim, 0 e 200 recebem nível 4; a confiança média de C3 é 0,84 — a MAIS ALTA das cinco. Ele está confiante justamente onde é pior.
</a:t>
            </a:r>
            <a:br>
              <a:rPr lang="en-US"/>
            </a:br>
            <a:r>
              <a:rPr lang="en-US"/>
              <a:t>C1 e C3 lado a lado são a aula inteira: tratar as duas doenças do mesmo jeito piora o resultado — e isso foi medido.</a:t>
            </a:r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Escolha UM ou DOIS alvos, com hipótese escrita no NOTAS.md antes de rodar.
</a:t>
            </a:r>
            <a:br>
              <a:rPr lang="en-US"/>
            </a:br>
            <a:r>
              <a:rPr lang="en-US"/>
              <a:t>Gargalos que você vai ver circulando: JSON inválido (vírgula sobrando) e --cache reusado.
</a:t>
            </a:r>
            <a:br>
              <a:rPr lang="en-US"/>
            </a:br>
            <a:r>
              <a:rPr lang="en-US"/>
              <a:t>Validação rápida: python3 -c "import json;r=json.load(open('rubric.json'));print({c: len(v['criteria']) for c,v in r['competencias'].items()})" — todos têm de ser 6.
</a:t>
            </a:r>
            <a:br>
              <a:rPr lang="en-US"/>
            </a:br>
            <a:r>
              <a:rPr lang="en-US"/>
              <a:t>Plano B se o provedor estiver devolvendo 429 sem parar: a edição da rubrica vira exercício escrito + defesa oral; o raciocínio é o que está sendo avaliado.</a:t>
            </a:r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Antes de digitarem, a regra da honestidade. A mini-amostra tem 10 redações espalhadas de 0 a 1000, todas dentro do cache de referência — então o antes e o depois são medidos nas mesmas redações.
</a:t>
            </a:r>
            <a:br>
              <a:rPr lang="en-US"/>
            </a:br>
            <a:r>
              <a:rPr lang="en-US"/>
              <a:t>O teste que importa mais que o QWK: o modelo voltou a usar a escala? Se C3 antes usava {3: 3, 4: 7} e agora espalha por 3 ou 4 níveis, a discriminação foi consertada.</a:t>
            </a:r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Só mostre depois que a turma rodou a própria rubrica.
</a:t>
            </a:r>
            <a:br>
              <a:rPr lang="en-US"/>
            </a:br>
            <a:r>
              <a:rPr lang="en-US"/>
              <a:t>Em C3, o colapso caiu de 86/100 para 51/100 no nível 4, e ele passou a usar 3 níveis em vez de 2.
</a:t>
            </a:r>
            <a:br>
              <a:rPr lang="en-US"/>
            </a:br>
            <a:r>
              <a:rPr lang="en-US"/>
              <a:t>A ressalva que o laboratório faz de si mesmo: a validação da v3 no split de teste parou em 22 de 100 (o provedor começou a recusar). Um projeto honesto diz onde o número não existe.
</a:t>
            </a:r>
            <a:br>
              <a:rPr lang="en-US"/>
            </a:br>
            <a:r>
              <a:rPr lang="en-US"/>
              <a:t>Discussão: por que validar num split diferente? Com 300 chamadas, uma rubrica × 300 ou 3 × 100?</a:t>
            </a:r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seção "o que eu NÃO posso concluir" é a que mais impressiona quem lê — e quase ninguém escreve.
</a:t>
            </a:r>
            <a:br>
              <a:rPr lang="en-US"/>
            </a:br>
            <a:r>
              <a:rPr lang="en-US"/>
              <a:t>Mensagem de commit no imperativo, dizendo o que mudou. "update", "wip" e "final2" não dizem nada.
</a:t>
            </a:r>
            <a:br>
              <a:rPr lang="en-US"/>
            </a:br>
            <a:r>
              <a:rPr lang="en-US"/>
              <a:t>Depois do workshop a chave do instrutor será revogada; quem quiser continuar cria a própria na Vercel (AI Gateway → API Keys). Custo medido: US$ 0,000078 por redação.</a:t>
            </a:r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Encerramento com os seis pontos finais da etapa 7 (2 min). Leia devagar: são as lições que valem fora deste workshop.</a:t>
            </a:r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Itens que o laboratório deixou abertos, para quem quiser continuar:
</a:t>
            </a:r>
            <a:br>
              <a:rPr lang="en-US"/>
            </a:br>
            <a:r>
              <a:rPr lang="en-US"/>
              <a:t>- fechar a validação da v3 no split de teste (22 de 100 feitos);
</a:t>
            </a:r>
            <a:br>
              <a:rPr lang="en-US"/>
            </a:br>
            <a:r>
              <a:rPr lang="en-US"/>
              <a:t>- rodar em ~300 redações para uma métrica estável;
</a:t>
            </a:r>
            <a:br>
              <a:rPr lang="en-US"/>
            </a:br>
            <a:r>
              <a:rPr lang="en-US"/>
              <a:t>- a camada de feedback em texto (decidir o produto antes do código);
</a:t>
            </a:r>
            <a:br>
              <a:rPr lang="en-US"/>
            </a:br>
            <a:r>
              <a:rPr lang="en-US"/>
              <a:t>- Open-Jev self-hosted (modelos 2B/9B/27B em Docker, sem custo por chamada, mas precisa de GPU).
</a:t>
            </a:r>
            <a:br>
              <a:rPr lang="en-US"/>
            </a:br>
            <a:r>
              <a:rPr lang="en-US"/>
              <a:t>Lembre a turma: a chave de hoje será revogada.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CONTEUDO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SECAO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indent="0" algn="l">
              <a:buNone/>
            </a:pPr>
            <a:endParaRPr lang="en-US" sz="48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CAPA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ebTech Netwo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ctr" defTabSz="914400" rtl="0" eaLnBrk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9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0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4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jpe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logo-branco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48640" y="411480"/>
            <a:ext cx="2103120" cy="79176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Workshop</a:t>
            </a:r>
            <a:endParaRPr lang="en-US" sz="6800"/>
          </a:p>
        </p:txBody>
      </p:sp>
      <p:sp>
        <p:nvSpPr>
          <p:cNvPr id="4" name="Shape 1"/>
          <p:cNvSpPr/>
          <p:nvPr/>
        </p:nvSpPr>
        <p:spPr>
          <a:xfrm>
            <a:off x="5486400" y="1627632"/>
            <a:ext cx="2514600" cy="1097280"/>
          </a:xfrm>
          <a:prstGeom prst="roundRect">
            <a:avLst>
              <a:gd name="adj" fmla="val 8333"/>
            </a:avLst>
          </a:prstGeom>
          <a:solidFill>
            <a:srgbClr val="FFC31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0" y="1627632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JEV</a:t>
            </a:r>
            <a:endParaRPr lang="en-US" sz="6800"/>
          </a:p>
        </p:txBody>
      </p:sp>
      <p:sp>
        <p:nvSpPr>
          <p:cNvPr id="6" name="Text 3"/>
          <p:cNvSpPr txBox="1"/>
          <p:nvPr/>
        </p:nvSpPr>
        <p:spPr>
          <a:xfrm>
            <a:off x="548640" y="29260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Corrigindo redações do ENEM com um modelo de decisão — e medindo, não opinando, o quanto ele concorda com corretores humanos.</a:t>
            </a:r>
            <a:endParaRPr lang="en-US" sz="2000"/>
          </a:p>
        </p:txBody>
      </p:sp>
      <p:sp>
        <p:nvSpPr>
          <p:cNvPr id="7" name="Text 4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LAB Jev · Projeto de Extensão e Pesquisa</a:t>
            </a:r>
            <a:endParaRPr lang="en-US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OBJETIVO DO DIA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Ao final, você vai saber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4400"/>
          </a:p>
        </p:txBody>
      </p:sp>
      <p:sp>
        <p:nvSpPr>
          <p:cNvPr id="9" name="Text 6"/>
          <p:cNvSpPr txBox="1"/>
          <p:nvPr/>
        </p:nvSpPr>
        <p:spPr>
          <a:xfrm>
            <a:off x="777240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Dois tipos de IA</a:t>
            </a:r>
            <a:endParaRPr lang="en-US" sz="1700"/>
          </a:p>
        </p:txBody>
      </p:sp>
      <p:sp>
        <p:nvSpPr>
          <p:cNvPr id="10" name="Text 7"/>
          <p:cNvSpPr txBox="1"/>
          <p:nvPr/>
        </p:nvSpPr>
        <p:spPr>
          <a:xfrm>
            <a:off x="777240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LLM generativo × modelo de decisão tipada, e quando usar cada um</a:t>
            </a:r>
            <a:endParaRPr lang="en-US" sz="1400"/>
          </a:p>
        </p:txBody>
      </p:sp>
      <p:sp>
        <p:nvSpPr>
          <p:cNvPr id="11" name="Shape 8"/>
          <p:cNvSpPr/>
          <p:nvPr/>
        </p:nvSpPr>
        <p:spPr>
          <a:xfrm>
            <a:off x="2807208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35808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4400"/>
          </a:p>
        </p:txBody>
      </p:sp>
      <p:sp>
        <p:nvSpPr>
          <p:cNvPr id="13" name="Text 10"/>
          <p:cNvSpPr txBox="1"/>
          <p:nvPr/>
        </p:nvSpPr>
        <p:spPr>
          <a:xfrm>
            <a:off x="3035808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Ler a resposta certa</a:t>
            </a:r>
            <a:endParaRPr lang="en-US" sz="1700"/>
          </a:p>
        </p:txBody>
      </p:sp>
      <p:sp>
        <p:nvSpPr>
          <p:cNvPr id="14" name="Text 11"/>
          <p:cNvSpPr txBox="1"/>
          <p:nvPr/>
        </p:nvSpPr>
        <p:spPr>
          <a:xfrm>
            <a:off x="3035808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Chamar a API de avaliação sem cair na pegadinha que gera nota errada</a:t>
            </a:r>
            <a:endParaRPr lang="en-US" sz="1400"/>
          </a:p>
        </p:txBody>
      </p:sp>
      <p:sp>
        <p:nvSpPr>
          <p:cNvPr id="15" name="Shape 12"/>
          <p:cNvSpPr/>
          <p:nvPr/>
        </p:nvSpPr>
        <p:spPr>
          <a:xfrm>
            <a:off x="5065776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94376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03</a:t>
            </a:r>
            <a:endParaRPr lang="en-US" sz="4400"/>
          </a:p>
        </p:txBody>
      </p:sp>
      <p:sp>
        <p:nvSpPr>
          <p:cNvPr id="17" name="Text 14"/>
          <p:cNvSpPr txBox="1"/>
          <p:nvPr/>
        </p:nvSpPr>
        <p:spPr>
          <a:xfrm>
            <a:off x="5294376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Medir de verdade</a:t>
            </a:r>
            <a:endParaRPr lang="en-US" sz="1700"/>
          </a:p>
        </p:txBody>
      </p:sp>
      <p:sp>
        <p:nvSpPr>
          <p:cNvPr id="18" name="Text 15"/>
          <p:cNvSpPr txBox="1"/>
          <p:nvPr/>
        </p:nvSpPr>
        <p:spPr>
          <a:xfrm>
            <a:off x="5294376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QWK, MAE, viés — e por que uma baseline burra é obrigatória</a:t>
            </a:r>
            <a:endParaRPr lang="en-US" sz="1400"/>
          </a:p>
        </p:txBody>
      </p:sp>
      <p:sp>
        <p:nvSpPr>
          <p:cNvPr id="19" name="Shape 16"/>
          <p:cNvSpPr/>
          <p:nvPr/>
        </p:nvSpPr>
        <p:spPr>
          <a:xfrm>
            <a:off x="7324344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52944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04</a:t>
            </a:r>
            <a:endParaRPr lang="en-US" sz="4400"/>
          </a:p>
        </p:txBody>
      </p:sp>
      <p:sp>
        <p:nvSpPr>
          <p:cNvPr id="21" name="Text 18"/>
          <p:cNvSpPr txBox="1"/>
          <p:nvPr/>
        </p:nvSpPr>
        <p:spPr>
          <a:xfrm>
            <a:off x="7552944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Iterar na rubrica</a:t>
            </a:r>
            <a:endParaRPr lang="en-US" sz="1700"/>
          </a:p>
        </p:txBody>
      </p:sp>
      <p:sp>
        <p:nvSpPr>
          <p:cNvPr id="22" name="Text 19"/>
          <p:cNvSpPr txBox="1"/>
          <p:nvPr/>
        </p:nvSpPr>
        <p:spPr>
          <a:xfrm>
            <a:off x="7552944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Transformar uma rubrica em dados e melhorá-la com validação honesta</a:t>
            </a:r>
            <a:endParaRPr lang="en-US" sz="1400"/>
          </a:p>
        </p:txBody>
      </p:sp>
      <p:sp>
        <p:nvSpPr>
          <p:cNvPr id="23" name="Shape 20"/>
          <p:cNvSpPr/>
          <p:nvPr/>
        </p:nvSpPr>
        <p:spPr>
          <a:xfrm>
            <a:off x="9582912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11512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05</a:t>
            </a:r>
            <a:endParaRPr lang="en-US" sz="4400"/>
          </a:p>
        </p:txBody>
      </p:sp>
      <p:sp>
        <p:nvSpPr>
          <p:cNvPr id="25" name="Text 22"/>
          <p:cNvSpPr txBox="1"/>
          <p:nvPr/>
        </p:nvSpPr>
        <p:spPr>
          <a:xfrm>
            <a:off x="9811512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Fluxo de time</a:t>
            </a:r>
            <a:endParaRPr lang="en-US" sz="1700"/>
          </a:p>
        </p:txBody>
      </p:sp>
      <p:sp>
        <p:nvSpPr>
          <p:cNvPr id="26" name="Text 23"/>
          <p:cNvSpPr txBox="1"/>
          <p:nvPr/>
        </p:nvSpPr>
        <p:spPr>
          <a:xfrm>
            <a:off x="9811512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fork → branch → commit → pull request, como no mercado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AGENDA · 3 HORAS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Sete etapas, duas usam a API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2200"/>
          </a:p>
        </p:txBody>
      </p:sp>
      <p:sp>
        <p:nvSpPr>
          <p:cNvPr id="9" name="Text 6"/>
          <p:cNvSpPr txBox="1"/>
          <p:nvPr/>
        </p:nvSpPr>
        <p:spPr>
          <a:xfrm>
            <a:off x="1234440" y="16916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Setup e GitHub</a:t>
            </a:r>
            <a:endParaRPr lang="en-US" sz="1800"/>
          </a:p>
        </p:txBody>
      </p:sp>
      <p:sp>
        <p:nvSpPr>
          <p:cNvPr id="10" name="Text 7"/>
          <p:cNvSpPr txBox="1"/>
          <p:nvPr/>
        </p:nvSpPr>
        <p:spPr>
          <a:xfrm>
            <a:off x="5029200" y="1640395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fork, clone, branch</a:t>
            </a:r>
            <a:endParaRPr lang="en-US" sz="1500"/>
          </a:p>
        </p:txBody>
      </p:sp>
      <p:sp>
        <p:nvSpPr>
          <p:cNvPr id="11" name="Text 8"/>
          <p:cNvSpPr txBox="1"/>
          <p:nvPr/>
        </p:nvSpPr>
        <p:spPr>
          <a:xfrm>
            <a:off x="6903720" y="1691640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57200" y="23317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2200"/>
          </a:p>
        </p:txBody>
      </p:sp>
      <p:sp>
        <p:nvSpPr>
          <p:cNvPr id="14" name="Text 11"/>
          <p:cNvSpPr txBox="1"/>
          <p:nvPr/>
        </p:nvSpPr>
        <p:spPr>
          <a:xfrm>
            <a:off x="1234440" y="23317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conceito</a:t>
            </a:r>
            <a:endParaRPr lang="en-US" sz="1800"/>
          </a:p>
        </p:txBody>
      </p:sp>
      <p:sp>
        <p:nvSpPr>
          <p:cNvPr id="15" name="Text 12"/>
          <p:cNvSpPr txBox="1"/>
          <p:nvPr/>
        </p:nvSpPr>
        <p:spPr>
          <a:xfrm>
            <a:off x="5029200" y="2331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dois tipos de IA</a:t>
            </a:r>
            <a:endParaRPr lang="en-US" sz="1500"/>
          </a:p>
        </p:txBody>
      </p:sp>
      <p:sp>
        <p:nvSpPr>
          <p:cNvPr id="16" name="Text 13"/>
          <p:cNvSpPr txBox="1"/>
          <p:nvPr/>
        </p:nvSpPr>
        <p:spPr>
          <a:xfrm>
            <a:off x="6903720" y="2331720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C3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2971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2200"/>
          </a:p>
        </p:txBody>
      </p:sp>
      <p:sp>
        <p:nvSpPr>
          <p:cNvPr id="19" name="Text 16"/>
          <p:cNvSpPr txBox="1"/>
          <p:nvPr/>
        </p:nvSpPr>
        <p:spPr>
          <a:xfrm>
            <a:off x="1234440" y="29718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Primeira chamada</a:t>
            </a:r>
            <a:endParaRPr lang="en-US" sz="1800"/>
          </a:p>
        </p:txBody>
      </p:sp>
      <p:sp>
        <p:nvSpPr>
          <p:cNvPr id="20" name="Text 17"/>
          <p:cNvSpPr txBox="1"/>
          <p:nvPr/>
        </p:nvSpPr>
        <p:spPr>
          <a:xfrm>
            <a:off x="5029200" y="29718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--dry-run e 1 redação</a:t>
            </a:r>
            <a:endParaRPr lang="en-US" sz="1500"/>
          </a:p>
        </p:txBody>
      </p:sp>
      <p:sp>
        <p:nvSpPr>
          <p:cNvPr id="22" name="Shape 19"/>
          <p:cNvSpPr/>
          <p:nvPr/>
        </p:nvSpPr>
        <p:spPr>
          <a:xfrm>
            <a:off x="8092440" y="3099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3099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usa a API</a:t>
            </a:r>
            <a:endParaRPr lang="en-US" sz="1200"/>
          </a:p>
        </p:txBody>
      </p:sp>
      <p:sp>
        <p:nvSpPr>
          <p:cNvPr id="24" name="Shape 21"/>
          <p:cNvSpPr/>
          <p:nvPr/>
        </p:nvSpPr>
        <p:spPr>
          <a:xfrm>
            <a:off x="457200" y="3611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720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2200"/>
          </a:p>
        </p:txBody>
      </p:sp>
      <p:sp>
        <p:nvSpPr>
          <p:cNvPr id="26" name="Text 23"/>
          <p:cNvSpPr txBox="1"/>
          <p:nvPr/>
        </p:nvSpPr>
        <p:spPr>
          <a:xfrm>
            <a:off x="1234440" y="3611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Pegadinha do score</a:t>
            </a:r>
            <a:endParaRPr lang="en-US" sz="1800"/>
          </a:p>
        </p:txBody>
      </p:sp>
      <p:sp>
        <p:nvSpPr>
          <p:cNvPr id="27" name="Text 24"/>
          <p:cNvSpPr txBox="1"/>
          <p:nvPr/>
        </p:nvSpPr>
        <p:spPr>
          <a:xfrm>
            <a:off x="5029200" y="3538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campo que engana</a:t>
            </a:r>
            <a:endParaRPr lang="en-US" sz="1500"/>
          </a:p>
        </p:txBody>
      </p:sp>
      <p:sp>
        <p:nvSpPr>
          <p:cNvPr id="28" name="Text 25"/>
          <p:cNvSpPr txBox="1"/>
          <p:nvPr/>
        </p:nvSpPr>
        <p:spPr>
          <a:xfrm>
            <a:off x="6903720" y="3611880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457200" y="454456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57200" y="4544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2200"/>
          </a:p>
        </p:txBody>
      </p:sp>
      <p:sp>
        <p:nvSpPr>
          <p:cNvPr id="31" name="Text 28"/>
          <p:cNvSpPr txBox="1"/>
          <p:nvPr/>
        </p:nvSpPr>
        <p:spPr>
          <a:xfrm>
            <a:off x="1234440" y="454456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Medindo</a:t>
            </a:r>
            <a:endParaRPr lang="en-US" sz="1800"/>
          </a:p>
        </p:txBody>
      </p:sp>
      <p:sp>
        <p:nvSpPr>
          <p:cNvPr id="32" name="Text 29"/>
          <p:cNvSpPr txBox="1"/>
          <p:nvPr/>
        </p:nvSpPr>
        <p:spPr>
          <a:xfrm>
            <a:off x="5029200" y="45445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QWK, baseline, limiar</a:t>
            </a:r>
            <a:endParaRPr lang="en-US" sz="1500"/>
          </a:p>
        </p:txBody>
      </p:sp>
      <p:sp>
        <p:nvSpPr>
          <p:cNvPr id="33" name="Text 30"/>
          <p:cNvSpPr txBox="1"/>
          <p:nvPr/>
        </p:nvSpPr>
        <p:spPr>
          <a:xfrm>
            <a:off x="6903720" y="4544568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457200" y="51846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C3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57200" y="5184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6</a:t>
            </a:r>
            <a:endParaRPr lang="en-US" sz="2200"/>
          </a:p>
        </p:txBody>
      </p:sp>
      <p:sp>
        <p:nvSpPr>
          <p:cNvPr id="36" name="Text 33"/>
          <p:cNvSpPr txBox="1"/>
          <p:nvPr/>
        </p:nvSpPr>
        <p:spPr>
          <a:xfrm>
            <a:off x="1234440" y="51846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Sua rubrica</a:t>
            </a:r>
            <a:endParaRPr lang="en-US" sz="1800"/>
          </a:p>
        </p:txBody>
      </p:sp>
      <p:sp>
        <p:nvSpPr>
          <p:cNvPr id="37" name="Text 34"/>
          <p:cNvSpPr txBox="1"/>
          <p:nvPr/>
        </p:nvSpPr>
        <p:spPr>
          <a:xfrm>
            <a:off x="5029200" y="51846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diagnosticar e iterar</a:t>
            </a:r>
            <a:endParaRPr lang="en-US" sz="1500"/>
          </a:p>
        </p:txBody>
      </p:sp>
      <p:sp>
        <p:nvSpPr>
          <p:cNvPr id="39" name="Shape 36"/>
          <p:cNvSpPr/>
          <p:nvPr/>
        </p:nvSpPr>
        <p:spPr>
          <a:xfrm>
            <a:off x="8092440" y="53126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092440" y="53126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usa a API</a:t>
            </a:r>
            <a:endParaRPr lang="en-US" sz="1200"/>
          </a:p>
        </p:txBody>
      </p:sp>
      <p:sp>
        <p:nvSpPr>
          <p:cNvPr id="41" name="Shape 38"/>
          <p:cNvSpPr/>
          <p:nvPr/>
        </p:nvSpPr>
        <p:spPr>
          <a:xfrm>
            <a:off x="457200" y="582472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57200" y="5824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7</a:t>
            </a:r>
            <a:endParaRPr lang="en-US" sz="2200"/>
          </a:p>
        </p:txBody>
      </p:sp>
      <p:sp>
        <p:nvSpPr>
          <p:cNvPr id="43" name="Text 40"/>
          <p:cNvSpPr txBox="1"/>
          <p:nvPr/>
        </p:nvSpPr>
        <p:spPr>
          <a:xfrm>
            <a:off x="1234440" y="582472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Pull request</a:t>
            </a:r>
            <a:endParaRPr lang="en-US" sz="1800"/>
          </a:p>
        </p:txBody>
      </p:sp>
      <p:sp>
        <p:nvSpPr>
          <p:cNvPr id="44" name="Text 41"/>
          <p:cNvSpPr txBox="1"/>
          <p:nvPr/>
        </p:nvSpPr>
        <p:spPr>
          <a:xfrm>
            <a:off x="5029200" y="57150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publicar o resultado</a:t>
            </a:r>
            <a:endParaRPr lang="en-US" sz="1500"/>
          </a:p>
        </p:txBody>
      </p:sp>
      <p:sp>
        <p:nvSpPr>
          <p:cNvPr id="46" name="Text 43"/>
          <p:cNvSpPr txBox="1"/>
          <p:nvPr/>
        </p:nvSpPr>
        <p:spPr>
          <a:xfrm>
            <a:off x="1325880" y="4215384"/>
            <a:ext cx="5486400" cy="201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i="1">
              <a:solidFill>
                <a:srgbClr val="6B7280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9829800" y="1691640"/>
            <a:ext cx="1828800" cy="4480560"/>
          </a:xfrm>
          <a:prstGeom prst="roundRect">
            <a:avLst>
              <a:gd name="adj" fmla="val 700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82980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~13</a:t>
            </a:r>
            <a:endParaRPr lang="en-US" sz="4400"/>
          </a:p>
        </p:txBody>
      </p:sp>
      <p:sp>
        <p:nvSpPr>
          <p:cNvPr id="49" name="Text 46"/>
          <p:cNvSpPr txBox="1"/>
          <p:nvPr/>
        </p:nvSpPr>
        <p:spPr>
          <a:xfrm>
            <a:off x="10012680" y="292608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chamadas de API por aluno no dia inteiro</a:t>
            </a:r>
            <a:endParaRPr lang="en-US" sz="1300"/>
          </a:p>
        </p:txBody>
      </p:sp>
      <p:sp>
        <p:nvSpPr>
          <p:cNvPr id="50" name="Text 47"/>
          <p:cNvSpPr txBox="1"/>
          <p:nvPr/>
        </p:nvSpPr>
        <p:spPr>
          <a:xfrm>
            <a:off x="10012680" y="434340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O resto roda offline, sobre um cache já pago</a:t>
            </a:r>
            <a:endParaRPr lang="en-US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96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 teoria: o que é o Jev</a:t>
            </a:r>
            <a:endParaRPr lang="en-US" sz="480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8686800" cy="309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Um modelo que decide, não um modelo que escreve.</a:t>
            </a:r>
            <a:endParaRPr lang="en-US" sz="2000"/>
          </a:p>
        </p:txBody>
      </p:sp>
      <p:pic>
        <p:nvPicPr>
          <p:cNvPr id="5" name="Image 0" descr="/home/claude/deck/assets/logo-bran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598932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DISTINÇÃO CENTRAL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Dois tipos de IA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2971800" y="1645920"/>
            <a:ext cx="4206240" cy="685800"/>
          </a:xfrm>
          <a:prstGeom prst="roundRect">
            <a:avLst>
              <a:gd name="adj" fmla="val 13333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200400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LLM generativo</a:t>
            </a:r>
            <a:endParaRPr lang="en-US" sz="1800"/>
          </a:p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ChatGPT, Claude</a:t>
            </a:r>
            <a:endParaRPr lang="en-US" sz="1800"/>
          </a:p>
        </p:txBody>
      </p:sp>
      <p:sp>
        <p:nvSpPr>
          <p:cNvPr id="9" name="Shape 6"/>
          <p:cNvSpPr/>
          <p:nvPr/>
        </p:nvSpPr>
        <p:spPr>
          <a:xfrm>
            <a:off x="7315200" y="1645920"/>
            <a:ext cx="4206240" cy="685800"/>
          </a:xfrm>
          <a:prstGeom prst="roundRect">
            <a:avLst>
              <a:gd name="adj" fmla="val 13333"/>
            </a:avLst>
          </a:prstGeom>
          <a:solidFill>
            <a:srgbClr val="5922A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43800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Modelo de decisão</a:t>
            </a:r>
            <a:endParaRPr lang="en-US" sz="1800"/>
          </a:p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Jev (TypeSafe AI)</a:t>
            </a:r>
            <a:endParaRPr lang="en-US" sz="180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" y="246888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O que devolve</a:t>
            </a:r>
            <a:endParaRPr lang="en-US" sz="1500"/>
          </a:p>
        </p:txBody>
      </p:sp>
      <p:sp>
        <p:nvSpPr>
          <p:cNvPr id="13" name="Text 10"/>
          <p:cNvSpPr txBox="1"/>
          <p:nvPr/>
        </p:nvSpPr>
        <p:spPr>
          <a:xfrm>
            <a:off x="3200400" y="246888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Texto livre</a:t>
            </a:r>
            <a:endParaRPr lang="en-US" sz="1500"/>
          </a:p>
        </p:txBody>
      </p:sp>
      <p:sp>
        <p:nvSpPr>
          <p:cNvPr id="14" name="Text 11"/>
          <p:cNvSpPr txBox="1"/>
          <p:nvPr/>
        </p:nvSpPr>
        <p:spPr>
          <a:xfrm>
            <a:off x="7543800" y="246888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valor tipado + probabilidades</a:t>
            </a:r>
            <a:endParaRPr lang="en-US" sz="1500"/>
          </a:p>
        </p:txBody>
      </p:sp>
      <p:sp>
        <p:nvSpPr>
          <p:cNvPr id="15" name="Text 12"/>
          <p:cNvSpPr txBox="1"/>
          <p:nvPr/>
        </p:nvSpPr>
        <p:spPr>
          <a:xfrm>
            <a:off x="731520" y="30723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Analogia</a:t>
            </a:r>
            <a:endParaRPr lang="en-US" sz="1500"/>
          </a:p>
        </p:txBody>
      </p:sp>
      <p:sp>
        <p:nvSpPr>
          <p:cNvPr id="16" name="Text 13"/>
          <p:cNvSpPr txBox="1"/>
          <p:nvPr/>
        </p:nvSpPr>
        <p:spPr>
          <a:xfrm>
            <a:off x="3200400" y="3072384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Um ensaísta que escreve um parecer</a:t>
            </a:r>
            <a:endParaRPr lang="en-US" sz="1500"/>
          </a:p>
        </p:txBody>
      </p:sp>
      <p:sp>
        <p:nvSpPr>
          <p:cNvPr id="17" name="Text 14"/>
          <p:cNvSpPr txBox="1"/>
          <p:nvPr/>
        </p:nvSpPr>
        <p:spPr>
          <a:xfrm>
            <a:off x="7543800" y="3072384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avaliador com prancheta que marca X</a:t>
            </a:r>
            <a:endParaRPr lang="en-US" sz="1500"/>
          </a:p>
        </p:txBody>
      </p:sp>
      <p:sp>
        <p:nvSpPr>
          <p:cNvPr id="18" name="Shape 15"/>
          <p:cNvSpPr/>
          <p:nvPr/>
        </p:nvSpPr>
        <p:spPr>
          <a:xfrm>
            <a:off x="548640" y="3675888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Você pergunta</a:t>
            </a:r>
            <a:endParaRPr lang="en-US" sz="1500"/>
          </a:p>
        </p:txBody>
      </p:sp>
      <p:sp>
        <p:nvSpPr>
          <p:cNvPr id="20" name="Text 17"/>
          <p:cNvSpPr txBox="1"/>
          <p:nvPr/>
        </p:nvSpPr>
        <p:spPr>
          <a:xfrm>
            <a:off x="3200400" y="3675888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“Avalie esta redação”</a:t>
            </a:r>
            <a:endParaRPr lang="en-US" sz="1500"/>
          </a:p>
        </p:txBody>
      </p:sp>
      <p:sp>
        <p:nvSpPr>
          <p:cNvPr id="21" name="Text 18"/>
          <p:cNvSpPr txBox="1"/>
          <p:nvPr/>
        </p:nvSpPr>
        <p:spPr>
          <a:xfrm>
            <a:off x="7543800" y="3675888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“Em 6 níveis, qual o nível da gramática?”</a:t>
            </a:r>
            <a:endParaRPr lang="en-US" sz="1500"/>
          </a:p>
        </p:txBody>
      </p:sp>
      <p:sp>
        <p:nvSpPr>
          <p:cNvPr id="22" name="Text 19"/>
          <p:cNvSpPr txBox="1"/>
          <p:nvPr/>
        </p:nvSpPr>
        <p:spPr>
          <a:xfrm>
            <a:off x="731520" y="427939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Resposta</a:t>
            </a:r>
            <a:endParaRPr lang="en-US" sz="1500"/>
          </a:p>
        </p:txBody>
      </p:sp>
      <p:sp>
        <p:nvSpPr>
          <p:cNvPr id="23" name="Text 20"/>
          <p:cNvSpPr txBox="1"/>
          <p:nvPr/>
        </p:nvSpPr>
        <p:spPr>
          <a:xfrm>
            <a:off x="3200400" y="427939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Três parágrafos de opinião</a:t>
            </a:r>
            <a:endParaRPr lang="en-US" sz="1500"/>
          </a:p>
        </p:txBody>
      </p:sp>
      <p:sp>
        <p:nvSpPr>
          <p:cNvPr id="24" name="Text 21"/>
          <p:cNvSpPr txBox="1"/>
          <p:nvPr/>
        </p:nvSpPr>
        <p:spPr>
          <a:xfrm>
            <a:off x="7543800" y="427939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nível 2, confiança 0,62</a:t>
            </a:r>
            <a:endParaRPr lang="en-US" sz="1500"/>
          </a:p>
        </p:txBody>
      </p:sp>
      <p:sp>
        <p:nvSpPr>
          <p:cNvPr id="25" name="Shape 22"/>
          <p:cNvSpPr/>
          <p:nvPr/>
        </p:nvSpPr>
        <p:spPr>
          <a:xfrm>
            <a:off x="548640" y="4882896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520" y="488289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Problema típico</a:t>
            </a:r>
            <a:endParaRPr lang="en-US" sz="1500"/>
          </a:p>
        </p:txBody>
      </p:sp>
      <p:sp>
        <p:nvSpPr>
          <p:cNvPr id="27" name="Text 24"/>
          <p:cNvSpPr txBox="1"/>
          <p:nvPr/>
        </p:nvSpPr>
        <p:spPr>
          <a:xfrm>
            <a:off x="3200400" y="4882896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Extrair o número do texto</a:t>
            </a:r>
            <a:endParaRPr lang="en-US" sz="1500"/>
          </a:p>
        </p:txBody>
      </p:sp>
      <p:sp>
        <p:nvSpPr>
          <p:cNvPr id="28" name="Text 25"/>
          <p:cNvSpPr txBox="1"/>
          <p:nvPr/>
        </p:nvSpPr>
        <p:spPr>
          <a:xfrm>
            <a:off x="7543800" y="4882896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Nenhum: o número já vem como número</a:t>
            </a:r>
            <a:endParaRPr lang="en-US" sz="1500"/>
          </a:p>
        </p:txBody>
      </p:sp>
      <p:sp>
        <p:nvSpPr>
          <p:cNvPr id="29" name="Text 26"/>
          <p:cNvSpPr txBox="1"/>
          <p:nvPr/>
        </p:nvSpPr>
        <p:spPr>
          <a:xfrm>
            <a:off x="731520" y="548640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Velocidade</a:t>
            </a:r>
            <a:endParaRPr lang="en-US" sz="1500"/>
          </a:p>
        </p:txBody>
      </p:sp>
      <p:sp>
        <p:nvSpPr>
          <p:cNvPr id="30" name="Text 27"/>
          <p:cNvSpPr txBox="1"/>
          <p:nvPr/>
        </p:nvSpPr>
        <p:spPr>
          <a:xfrm>
            <a:off x="3200400" y="548640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segundos</a:t>
            </a:r>
            <a:endParaRPr lang="en-US" sz="1500"/>
          </a:p>
        </p:txBody>
      </p:sp>
      <p:sp>
        <p:nvSpPr>
          <p:cNvPr id="31" name="Text 28"/>
          <p:cNvSpPr txBox="1"/>
          <p:nvPr/>
        </p:nvSpPr>
        <p:spPr>
          <a:xfrm>
            <a:off x="7543800" y="548640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~0,5 s</a:t>
            </a:r>
            <a:endParaRPr lang="en-US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POR QUE ISSO IMPORTA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Corrigir com um LLM cria três problemas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6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Resposta típica de um LLM generativo</a:t>
            </a:r>
            <a:endParaRPr lang="en-US" sz="1200"/>
          </a:p>
        </p:txBody>
      </p:sp>
      <p:sp>
        <p:nvSpPr>
          <p:cNvPr id="9" name="Text 6"/>
          <p:cNvSpPr txBox="1"/>
          <p:nvPr/>
        </p:nvSpPr>
        <p:spPr>
          <a:xfrm>
            <a:off x="822960" y="2176272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“A redação apresenta bom domínio da norma padrão, com alguns desvios de pontuação. Eu daria algo em torno de 160, talvez 140 dependendo do rigor.”</a:t>
            </a:r>
            <a:endParaRPr lang="en-US" sz="150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600"/>
          </a:p>
        </p:txBody>
      </p:sp>
      <p:sp>
        <p:nvSpPr>
          <p:cNvPr id="12" name="Text 9"/>
          <p:cNvSpPr txBox="1"/>
          <p:nvPr/>
        </p:nvSpPr>
        <p:spPr>
          <a:xfrm>
            <a:off x="1188720" y="37947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Extrair o número 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 um texto que diz “160, talvez 140”</a:t>
            </a:r>
            <a:endParaRPr lang="en-US" sz="1500"/>
          </a:p>
        </p:txBody>
      </p:sp>
      <p:sp>
        <p:nvSpPr>
          <p:cNvPr id="13" name="Shape 10"/>
          <p:cNvSpPr/>
          <p:nvPr/>
        </p:nvSpPr>
        <p:spPr>
          <a:xfrm>
            <a:off x="548640" y="4617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600"/>
          </a:p>
        </p:txBody>
      </p:sp>
      <p:sp>
        <p:nvSpPr>
          <p:cNvPr id="15" name="Text 12"/>
          <p:cNvSpPr txBox="1"/>
          <p:nvPr/>
        </p:nvSpPr>
        <p:spPr>
          <a:xfrm>
            <a:off x="1188720" y="45720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Garantir o formato 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na próxima chamada ele pode responder diferente</a:t>
            </a:r>
            <a:endParaRPr lang="en-US" sz="1500"/>
          </a:p>
        </p:txBody>
      </p:sp>
      <p:sp>
        <p:nvSpPr>
          <p:cNvPr id="16" name="Shape 13"/>
          <p:cNvSpPr/>
          <p:nvPr/>
        </p:nvSpPr>
        <p:spPr>
          <a:xfrm>
            <a:off x="548640" y="5394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600"/>
          </a:p>
        </p:txBody>
      </p:sp>
      <p:sp>
        <p:nvSpPr>
          <p:cNvPr id="18" name="Text 15"/>
          <p:cNvSpPr txBox="1"/>
          <p:nvPr/>
        </p:nvSpPr>
        <p:spPr>
          <a:xfrm>
            <a:off x="1188720" y="5349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Não saber a confiança 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“talvez” não é um número com que se filtre nada</a:t>
            </a:r>
            <a:endParaRPr lang="en-US" sz="1500"/>
          </a:p>
        </p:txBody>
      </p:sp>
      <p:sp>
        <p:nvSpPr>
          <p:cNvPr id="19" name="Text 16"/>
          <p:cNvSpPr txBox="1"/>
          <p:nvPr/>
        </p:nvSpPr>
        <p:spPr>
          <a:xfrm>
            <a:off x="640080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Com o Jev</a:t>
            </a:r>
            <a:endParaRPr lang="en-US" sz="1600"/>
          </a:p>
        </p:txBody>
      </p:sp>
      <p:sp>
        <p:nvSpPr>
          <p:cNvPr id="20" name="Shape 17"/>
          <p:cNvSpPr/>
          <p:nvPr/>
        </p:nvSpPr>
        <p:spPr>
          <a:xfrm>
            <a:off x="6400800" y="2103120"/>
            <a:ext cx="5257800" cy="1965960"/>
          </a:xfrm>
          <a:prstGeom prst="roundRect">
            <a:avLst>
              <a:gd name="adj" fmla="val 5581"/>
            </a:avLst>
          </a:prstGeom>
          <a:solidFill>
            <a:srgbClr val="1610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75120" y="233172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"score": </a:t>
            </a:r>
            <a:r>
              <a:rPr lang="en-US" sz="16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3.2</a:t>
            </a: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"confidence": </a:t>
            </a:r>
            <a:r>
              <a:rPr lang="en-US" sz="16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0.71</a:t>
            </a: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"probabilities": </a:t>
            </a: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 ... }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}</a:t>
            </a:r>
            <a:endParaRPr lang="en-US" sz="1600"/>
          </a:p>
        </p:txBody>
      </p:sp>
      <p:sp>
        <p:nvSpPr>
          <p:cNvPr id="22" name="Text 19"/>
          <p:cNvSpPr txBox="1"/>
          <p:nvPr/>
        </p:nvSpPr>
        <p:spPr>
          <a:xfrm>
            <a:off x="6400800" y="434340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Nada para extrair. </a:t>
            </a:r>
            <a:r>
              <a:rPr lang="en-US" sz="16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 a confiança vem de graça — é ela que, na etapa 5, decide quais redações sobem para revisão humana.</a:t>
            </a:r>
            <a:endParaRPr lang="en-US" sz="16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O NOME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Jev é um modelo “System One”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7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name="adj" fmla="val 2979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0574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~0,5 s</a:t>
            </a:r>
            <a:endParaRPr lang="en-US" sz="7200"/>
          </a:p>
        </p:txBody>
      </p:sp>
      <p:sp>
        <p:nvSpPr>
          <p:cNvPr id="9" name="Text 6"/>
          <p:cNvSpPr txBox="1"/>
          <p:nvPr/>
        </p:nvSpPr>
        <p:spPr>
          <a:xfrm>
            <a:off x="914400" y="3246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por decisão</a:t>
            </a:r>
            <a:endParaRPr lang="en-US" sz="1800"/>
          </a:p>
        </p:txBody>
      </p:sp>
      <p:sp>
        <p:nvSpPr>
          <p:cNvPr id="10" name="Text 7"/>
          <p:cNvSpPr txBox="1"/>
          <p:nvPr/>
        </p:nvSpPr>
        <p:spPr>
          <a:xfrm>
            <a:off x="914400" y="40233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Jev é o reflexo, não a reflexão. Ele decide — e não escreve texto nenhum.</a:t>
            </a:r>
            <a:endParaRPr lang="en-US" sz="1800"/>
          </a:p>
        </p:txBody>
      </p:sp>
      <p:sp>
        <p:nvSpPr>
          <p:cNvPr id="11" name="Shape 8"/>
          <p:cNvSpPr/>
          <p:nvPr/>
        </p:nvSpPr>
        <p:spPr>
          <a:xfrm>
            <a:off x="6035040" y="1691640"/>
            <a:ext cx="5605272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Sistema 1</a:t>
            </a:r>
            <a:endParaRPr lang="en-US" sz="1800"/>
          </a:p>
        </p:txBody>
      </p:sp>
      <p:sp>
        <p:nvSpPr>
          <p:cNvPr id="13" name="Text 10"/>
          <p:cNvSpPr txBox="1"/>
          <p:nvPr/>
        </p:nvSpPr>
        <p:spPr>
          <a:xfrm>
            <a:off x="6355080" y="2286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Rápido e automático. É o Jev: escolhe um nível numa escala e diz o quanto está seguro.</a:t>
            </a:r>
            <a:endParaRPr lang="en-US" sz="1500"/>
          </a:p>
        </p:txBody>
      </p:sp>
      <p:sp>
        <p:nvSpPr>
          <p:cNvPr id="14" name="Shape 11"/>
          <p:cNvSpPr/>
          <p:nvPr/>
        </p:nvSpPr>
        <p:spPr>
          <a:xfrm>
            <a:off x="6035040" y="3840480"/>
            <a:ext cx="5605272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508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Sistema 2</a:t>
            </a:r>
            <a:endParaRPr lang="en-US" sz="1800"/>
          </a:p>
        </p:txBody>
      </p:sp>
      <p:sp>
        <p:nvSpPr>
          <p:cNvPr id="16" name="Text 13"/>
          <p:cNvSpPr txBox="1"/>
          <p:nvPr/>
        </p:nvSpPr>
        <p:spPr>
          <a:xfrm>
            <a:off x="6355080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Lento e deliberativo. Seria um LLM generativo redigindo o feedback para o aluno — um segundo passo, com outro modelo, ainda em aberto no projeto.</a:t>
            </a:r>
            <a:endParaRPr lang="en-US" sz="1500"/>
          </a:p>
        </p:txBody>
      </p:sp>
      <p:sp>
        <p:nvSpPr>
          <p:cNvPr id="17" name="Text 14"/>
          <p:cNvSpPr txBox="1"/>
          <p:nvPr/>
        </p:nvSpPr>
        <p:spPr>
          <a:xfrm>
            <a:off x="6035040" y="6053328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Termos de Kahneman (Rápido e Devagar)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UNIDADE BÁSICA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Tudo gira em torno da pergunta tipada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8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boolean</a:t>
            </a:r>
            <a:endParaRPr lang="en-US" sz="2600"/>
          </a:p>
        </p:txBody>
      </p:sp>
      <p:sp>
        <p:nvSpPr>
          <p:cNvPr id="9" name="Text 6"/>
          <p:cNvSpPr txBox="1"/>
          <p:nvPr/>
        </p:nvSpPr>
        <p:spPr>
          <a:xfrm>
            <a:off x="868680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“Isto é verdade?”</a:t>
            </a:r>
            <a:endParaRPr lang="en-US" sz="1700"/>
          </a:p>
        </p:txBody>
      </p:sp>
      <p:sp>
        <p:nvSpPr>
          <p:cNvPr id="10" name="Text 7"/>
          <p:cNvSpPr txBox="1"/>
          <p:nvPr/>
        </p:nvSpPr>
        <p:spPr>
          <a:xfrm>
            <a:off x="868680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devolve um valor de 0 a 1</a:t>
            </a:r>
            <a:endParaRPr lang="en-US" sz="150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6008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choice</a:t>
            </a:r>
            <a:endParaRPr lang="en-US" sz="2600"/>
          </a:p>
        </p:txBody>
      </p:sp>
      <p:sp>
        <p:nvSpPr>
          <p:cNvPr id="13" name="Text 10"/>
          <p:cNvSpPr txBox="1"/>
          <p:nvPr/>
        </p:nvSpPr>
        <p:spPr>
          <a:xfrm>
            <a:off x="4636008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“Qual destas opções?”</a:t>
            </a:r>
            <a:endParaRPr lang="en-US" sz="1700"/>
          </a:p>
        </p:txBody>
      </p:sp>
      <p:sp>
        <p:nvSpPr>
          <p:cNvPr id="14" name="Text 11"/>
          <p:cNvSpPr txBox="1"/>
          <p:nvPr/>
        </p:nvSpPr>
        <p:spPr>
          <a:xfrm>
            <a:off x="4636008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devolve a opção + a probabilidade de cada uma</a:t>
            </a:r>
            <a:endParaRPr lang="en-US" sz="1500"/>
          </a:p>
        </p:txBody>
      </p:sp>
      <p:sp>
        <p:nvSpPr>
          <p:cNvPr id="15" name="Shape 12"/>
          <p:cNvSpPr/>
          <p:nvPr/>
        </p:nvSpPr>
        <p:spPr>
          <a:xfrm>
            <a:off x="8083296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03336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score</a:t>
            </a:r>
            <a:endParaRPr lang="en-US" sz="2600"/>
          </a:p>
        </p:txBody>
      </p:sp>
      <p:sp>
        <p:nvSpPr>
          <p:cNvPr id="17" name="Text 14"/>
          <p:cNvSpPr txBox="1"/>
          <p:nvPr/>
        </p:nvSpPr>
        <p:spPr>
          <a:xfrm>
            <a:off x="8403336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“Em que nível numa escala?”</a:t>
            </a:r>
            <a:endParaRPr lang="en-US" sz="1700"/>
          </a:p>
        </p:txBody>
      </p:sp>
      <p:sp>
        <p:nvSpPr>
          <p:cNvPr id="18" name="Text 15"/>
          <p:cNvSpPr txBox="1"/>
          <p:nvPr/>
        </p:nvSpPr>
        <p:spPr>
          <a:xfrm>
            <a:off x="8403336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devolve o nível + a probabilidade de cada nível</a:t>
            </a:r>
            <a:endParaRPr lang="en-US" sz="1500"/>
          </a:p>
        </p:txBody>
      </p:sp>
      <p:sp>
        <p:nvSpPr>
          <p:cNvPr id="19" name="Shape 16"/>
          <p:cNvSpPr/>
          <p:nvPr/>
        </p:nvSpPr>
        <p:spPr>
          <a:xfrm>
            <a:off x="9939528" y="21214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939528" y="21214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que usamos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548640" y="4617720"/>
            <a:ext cx="6949440" cy="1463040"/>
          </a:xfrm>
          <a:prstGeom prst="roundRect">
            <a:avLst>
              <a:gd name="adj" fmla="val 875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80060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Por que só score? </a:t>
            </a:r>
            <a:r>
              <a:rPr lang="en-US" sz="16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ENEM é exatamente isso: cada competência vale 0, 40, 80, 120, 160 ou 200. Seis níveis numa escala.</a:t>
            </a:r>
            <a:endParaRPr lang="en-US" sz="1600"/>
          </a:p>
        </p:txBody>
      </p:sp>
      <p:sp>
        <p:nvSpPr>
          <p:cNvPr id="23" name="Shape 20"/>
          <p:cNvSpPr/>
          <p:nvPr/>
        </p:nvSpPr>
        <p:spPr>
          <a:xfrm>
            <a:off x="7726680" y="4617720"/>
            <a:ext cx="391363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55280" y="475488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Pegadinha de vocabulário: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doc nativa da TypeSafe chama o booleano de “noul”; o Vercel AI Gateway chama de “boolean”. Pelo gateway, “noul” é recusado.</a:t>
            </a:r>
            <a:endParaRPr lang="en-US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REQUISIÇÃO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Anatomia da chamada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9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852160" cy="4434840"/>
          </a:xfrm>
          <a:prstGeom prst="roundRect">
            <a:avLst>
              <a:gd name="adj" fmla="val 2474"/>
            </a:avLst>
          </a:prstGeom>
          <a:solidFill>
            <a:srgbClr val="1610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920240"/>
            <a:ext cx="5303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POST </a:t>
            </a:r>
            <a:r>
              <a:rPr lang="en-US" sz="140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/v1/evaluate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"model":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"typesafe-ai/jev"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  "state":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"Título: ... texto da redação"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"questions":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"c1": { "type": "score",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        "instructions": "...",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        "criteria": [6 âncoras] },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  "c2": ... "c5": ...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}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}</a:t>
            </a:r>
            <a:endParaRPr lang="en-US" sz="1400"/>
          </a:p>
        </p:txBody>
      </p:sp>
      <p:sp>
        <p:nvSpPr>
          <p:cNvPr id="9" name="Shape 6"/>
          <p:cNvSpPr/>
          <p:nvPr/>
        </p:nvSpPr>
        <p:spPr>
          <a:xfrm>
            <a:off x="6675120" y="1691640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828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model</a:t>
            </a:r>
            <a:endParaRPr lang="en-US" sz="1700"/>
          </a:p>
        </p:txBody>
      </p:sp>
      <p:sp>
        <p:nvSpPr>
          <p:cNvPr id="11" name="Text 8"/>
          <p:cNvSpPr txBox="1"/>
          <p:nvPr/>
        </p:nvSpPr>
        <p:spPr>
          <a:xfrm>
            <a:off x="8503920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qual modelo usar</a:t>
            </a:r>
            <a:endParaRPr lang="en-US" sz="1400"/>
          </a:p>
        </p:txBody>
      </p:sp>
      <p:sp>
        <p:nvSpPr>
          <p:cNvPr id="12" name="Text 9"/>
          <p:cNvSpPr txBox="1"/>
          <p:nvPr/>
        </p:nvSpPr>
        <p:spPr>
          <a:xfrm>
            <a:off x="8503920" y="21488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avaliador que você contratou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6675120" y="2715768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2852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state</a:t>
            </a:r>
            <a:endParaRPr lang="en-US" sz="1700"/>
          </a:p>
        </p:txBody>
      </p:sp>
      <p:sp>
        <p:nvSpPr>
          <p:cNvPr id="15" name="Text 12"/>
          <p:cNvSpPr txBox="1"/>
          <p:nvPr/>
        </p:nvSpPr>
        <p:spPr>
          <a:xfrm>
            <a:off x="850392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texto a ser avaliado</a:t>
            </a:r>
            <a:endParaRPr lang="en-US" sz="1400"/>
          </a:p>
        </p:txBody>
      </p:sp>
      <p:sp>
        <p:nvSpPr>
          <p:cNvPr id="16" name="Text 13"/>
          <p:cNvSpPr txBox="1"/>
          <p:nvPr/>
        </p:nvSpPr>
        <p:spPr>
          <a:xfrm>
            <a:off x="8503920" y="3172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prova que você põe na mesa dele</a:t>
            </a:r>
            <a:endParaRPr lang="en-US" sz="1300"/>
          </a:p>
        </p:txBody>
      </p:sp>
      <p:sp>
        <p:nvSpPr>
          <p:cNvPr id="17" name="Shape 14"/>
          <p:cNvSpPr/>
          <p:nvPr/>
        </p:nvSpPr>
        <p:spPr>
          <a:xfrm>
            <a:off x="6675120" y="3739896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38770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questions</a:t>
            </a:r>
            <a:endParaRPr lang="en-US" sz="1700"/>
          </a:p>
        </p:txBody>
      </p:sp>
      <p:sp>
        <p:nvSpPr>
          <p:cNvPr id="19" name="Text 16"/>
          <p:cNvSpPr txBox="1"/>
          <p:nvPr/>
        </p:nvSpPr>
        <p:spPr>
          <a:xfrm>
            <a:off x="8503920" y="3858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as perguntas e suas réguas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8503920" y="4197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formulário que ele preenche</a:t>
            </a:r>
            <a:endParaRPr lang="en-US" sz="1300"/>
          </a:p>
        </p:txBody>
      </p:sp>
      <p:sp>
        <p:nvSpPr>
          <p:cNvPr id="21" name="Text 18"/>
          <p:cNvSpPr txBox="1"/>
          <p:nvPr/>
        </p:nvSpPr>
        <p:spPr>
          <a:xfrm>
            <a:off x="6675120" y="4846320"/>
            <a:ext cx="4965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Não é </a:t>
            </a: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messages</a:t>
            </a: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, não é </a:t>
            </a: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/chat/completions</a:t>
            </a: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. As 5 competências vão numa requisição só: você paga o texto da redação uma vez, não cinco.</a:t>
            </a:r>
            <a:endParaRPr lang="en-US" sz="15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RUBRIC.JSON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rubrica vira pergunta: a posição é o nível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10</a:t>
            </a:r>
            <a:endParaRPr lang="en-US" sz="100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c1 · criteria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  lista ordenada de 6 âncoras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0116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0</a:t>
            </a:r>
            <a:endParaRPr lang="en-US" sz="2000"/>
          </a:p>
        </p:txBody>
      </p:sp>
      <p:sp>
        <p:nvSpPr>
          <p:cNvPr id="10" name="Shape 7"/>
          <p:cNvSpPr/>
          <p:nvPr/>
        </p:nvSpPr>
        <p:spPr>
          <a:xfrm>
            <a:off x="1234440" y="201168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17320" y="20116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Desconhecimento total da modalidade escrita formal</a:t>
            </a:r>
            <a:endParaRPr lang="en-US" sz="1400"/>
          </a:p>
        </p:txBody>
      </p:sp>
      <p:sp>
        <p:nvSpPr>
          <p:cNvPr id="12" name="Text 9"/>
          <p:cNvSpPr txBox="1"/>
          <p:nvPr/>
        </p:nvSpPr>
        <p:spPr>
          <a:xfrm>
            <a:off x="7132320" y="20116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0 pts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548640" y="265176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265176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2000"/>
          </a:p>
        </p:txBody>
      </p:sp>
      <p:sp>
        <p:nvSpPr>
          <p:cNvPr id="15" name="Shape 12"/>
          <p:cNvSpPr/>
          <p:nvPr/>
        </p:nvSpPr>
        <p:spPr>
          <a:xfrm>
            <a:off x="1234440" y="265176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26517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Domínio precário: desvios sistemáticos e graves</a:t>
            </a:r>
            <a:endParaRPr lang="en-US" sz="1400"/>
          </a:p>
        </p:txBody>
      </p:sp>
      <p:sp>
        <p:nvSpPr>
          <p:cNvPr id="17" name="Text 14"/>
          <p:cNvSpPr txBox="1"/>
          <p:nvPr/>
        </p:nvSpPr>
        <p:spPr>
          <a:xfrm>
            <a:off x="7132320" y="26517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40 pts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>
          <a:xfrm>
            <a:off x="548640" y="329184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2918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2000"/>
          </a:p>
        </p:txBody>
      </p:sp>
      <p:sp>
        <p:nvSpPr>
          <p:cNvPr id="20" name="Shape 17"/>
          <p:cNvSpPr/>
          <p:nvPr/>
        </p:nvSpPr>
        <p:spPr>
          <a:xfrm>
            <a:off x="1234440" y="329184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417320" y="32918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Domínio insuficiente: muitos desvios</a:t>
            </a:r>
            <a:endParaRPr lang="en-US" sz="1400"/>
          </a:p>
        </p:txBody>
      </p:sp>
      <p:sp>
        <p:nvSpPr>
          <p:cNvPr id="22" name="Text 19"/>
          <p:cNvSpPr txBox="1"/>
          <p:nvPr/>
        </p:nvSpPr>
        <p:spPr>
          <a:xfrm>
            <a:off x="7132320" y="32918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80 pts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39319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2000"/>
          </a:p>
        </p:txBody>
      </p:sp>
      <p:sp>
        <p:nvSpPr>
          <p:cNvPr id="25" name="Shape 22"/>
          <p:cNvSpPr/>
          <p:nvPr/>
        </p:nvSpPr>
        <p:spPr>
          <a:xfrm>
            <a:off x="1234440" y="393192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17320" y="39319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Domínio mediano: majoritariamente correto, mas…</a:t>
            </a:r>
            <a:endParaRPr lang="en-US" sz="1400"/>
          </a:p>
        </p:txBody>
      </p:sp>
      <p:sp>
        <p:nvSpPr>
          <p:cNvPr id="27" name="Text 24"/>
          <p:cNvSpPr txBox="1"/>
          <p:nvPr/>
        </p:nvSpPr>
        <p:spPr>
          <a:xfrm>
            <a:off x="7132320" y="393192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120 pts</a:t>
            </a:r>
            <a:endParaRPr lang="en-US" sz="1300"/>
          </a:p>
        </p:txBody>
      </p:sp>
      <p:sp>
        <p:nvSpPr>
          <p:cNvPr id="28" name="Shape 25"/>
          <p:cNvSpPr/>
          <p:nvPr/>
        </p:nvSpPr>
        <p:spPr>
          <a:xfrm>
            <a:off x="548640" y="457200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8640" y="457200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2000"/>
          </a:p>
        </p:txBody>
      </p:sp>
      <p:sp>
        <p:nvSpPr>
          <p:cNvPr id="30" name="Shape 27"/>
          <p:cNvSpPr/>
          <p:nvPr/>
        </p:nvSpPr>
        <p:spPr>
          <a:xfrm>
            <a:off x="1234440" y="457200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417320" y="45720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Bom domínio: poucos desvios</a:t>
            </a:r>
            <a:endParaRPr lang="en-US" sz="1400"/>
          </a:p>
        </p:txBody>
      </p:sp>
      <p:sp>
        <p:nvSpPr>
          <p:cNvPr id="32" name="Text 29"/>
          <p:cNvSpPr txBox="1"/>
          <p:nvPr/>
        </p:nvSpPr>
        <p:spPr>
          <a:xfrm>
            <a:off x="7132320" y="457200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160 pts</a:t>
            </a:r>
            <a:endParaRPr lang="en-US" sz="1300"/>
          </a:p>
        </p:txBody>
      </p:sp>
      <p:sp>
        <p:nvSpPr>
          <p:cNvPr id="33" name="Shape 30"/>
          <p:cNvSpPr/>
          <p:nvPr/>
        </p:nvSpPr>
        <p:spPr>
          <a:xfrm>
            <a:off x="548640" y="521208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FFC31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48640" y="5212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2000"/>
          </a:p>
        </p:txBody>
      </p:sp>
      <p:sp>
        <p:nvSpPr>
          <p:cNvPr id="35" name="Shape 32"/>
          <p:cNvSpPr/>
          <p:nvPr/>
        </p:nvSpPr>
        <p:spPr>
          <a:xfrm>
            <a:off x="1234440" y="521208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417320" y="52120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Excelente domínio: desvios raros e acidentais</a:t>
            </a:r>
            <a:endParaRPr lang="en-US" sz="1400"/>
          </a:p>
        </p:txBody>
      </p:sp>
      <p:sp>
        <p:nvSpPr>
          <p:cNvPr id="37" name="Text 34"/>
          <p:cNvSpPr txBox="1"/>
          <p:nvPr/>
        </p:nvSpPr>
        <p:spPr>
          <a:xfrm>
            <a:off x="7132320" y="52120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200 pts</a:t>
            </a:r>
            <a:endParaRPr lang="en-US" sz="1300"/>
          </a:p>
        </p:txBody>
      </p:sp>
      <p:sp>
        <p:nvSpPr>
          <p:cNvPr id="38" name="Shape 35"/>
          <p:cNvSpPr/>
          <p:nvPr/>
        </p:nvSpPr>
        <p:spPr>
          <a:xfrm>
            <a:off x="8229600" y="1691640"/>
            <a:ext cx="3410712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503920" y="1874520"/>
            <a:ext cx="28620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Jev nunca vê “120 pontos”. Ele vê seis descrições em ordem e escolhe entre elas.</a:t>
            </a:r>
            <a:endParaRPr lang="en-US" sz="1700"/>
          </a:p>
        </p:txBody>
      </p:sp>
      <p:sp>
        <p:nvSpPr>
          <p:cNvPr id="40" name="Shape 37"/>
          <p:cNvSpPr/>
          <p:nvPr/>
        </p:nvSpPr>
        <p:spPr>
          <a:xfrm>
            <a:off x="8229600" y="3977640"/>
            <a:ext cx="3410712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503920" y="4160520"/>
            <a:ext cx="28620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rubrica é dado, não código.</a:t>
            </a:r>
            <a:endParaRPr lang="en-US" sz="1500"/>
          </a:p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Trocar a régua é editar um JSON. O Python não sabe nada sobre redações.</a:t>
            </a:r>
            <a:endParaRPr lang="en-US" sz="15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RESPOSTA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Anatomia da resposta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11</a:t>
            </a:r>
            <a:endParaRPr lang="en-US" sz="1000"/>
          </a:p>
        </p:txBody>
      </p:sp>
      <p:sp>
        <p:nvSpPr>
          <p:cNvPr id="7" name="Text 4"/>
          <p:cNvSpPr txBox="1"/>
          <p:nvPr/>
        </p:nvSpPr>
        <p:spPr>
          <a:xfrm>
            <a:off x="548640" y="1645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probabilities de c1 — redação real (idx 633)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6583680" cy="4069080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5376672"/>
            <a:ext cx="792480" cy="1828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506577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0,00</a:t>
            </a:r>
            <a:endParaRPr lang="en-US" sz="1400"/>
          </a:p>
        </p:txBody>
      </p:sp>
      <p:sp>
        <p:nvSpPr>
          <p:cNvPr id="11" name="Text 8"/>
          <p:cNvSpPr txBox="1"/>
          <p:nvPr/>
        </p:nvSpPr>
        <p:spPr>
          <a:xfrm>
            <a:off x="777240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nível 0</a:t>
            </a:r>
            <a:endParaRPr lang="en-US" sz="1300"/>
          </a:p>
        </p:txBody>
      </p:sp>
      <p:sp>
        <p:nvSpPr>
          <p:cNvPr id="12" name="Shape 9"/>
          <p:cNvSpPr/>
          <p:nvPr/>
        </p:nvSpPr>
        <p:spPr>
          <a:xfrm>
            <a:off x="1953768" y="5188804"/>
            <a:ext cx="792480" cy="206156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70888" y="4877908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0,04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1770888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2947416" y="2921092"/>
            <a:ext cx="792480" cy="247386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64536" y="261019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0,48</a:t>
            </a:r>
            <a:endParaRPr lang="en-US" sz="1400"/>
          </a:p>
        </p:txBody>
      </p:sp>
      <p:sp>
        <p:nvSpPr>
          <p:cNvPr id="17" name="Text 14"/>
          <p:cNvSpPr txBox="1"/>
          <p:nvPr/>
        </p:nvSpPr>
        <p:spPr>
          <a:xfrm>
            <a:off x="2764536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>
          <a:xfrm>
            <a:off x="3941064" y="3178787"/>
            <a:ext cx="792480" cy="2216173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58184" y="2867891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0,43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3758184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300"/>
          </a:p>
        </p:txBody>
      </p:sp>
      <p:sp>
        <p:nvSpPr>
          <p:cNvPr id="21" name="Shape 18"/>
          <p:cNvSpPr/>
          <p:nvPr/>
        </p:nvSpPr>
        <p:spPr>
          <a:xfrm>
            <a:off x="4934712" y="5137265"/>
            <a:ext cx="792480" cy="257695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751832" y="4826369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0,05</a:t>
            </a:r>
            <a:endParaRPr lang="en-US" sz="1400"/>
          </a:p>
        </p:txBody>
      </p:sp>
      <p:sp>
        <p:nvSpPr>
          <p:cNvPr id="23" name="Text 20"/>
          <p:cNvSpPr txBox="1"/>
          <p:nvPr/>
        </p:nvSpPr>
        <p:spPr>
          <a:xfrm>
            <a:off x="4751832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300"/>
          </a:p>
        </p:txBody>
      </p:sp>
      <p:sp>
        <p:nvSpPr>
          <p:cNvPr id="24" name="Shape 21"/>
          <p:cNvSpPr/>
          <p:nvPr/>
        </p:nvSpPr>
        <p:spPr>
          <a:xfrm>
            <a:off x="5928360" y="5376672"/>
            <a:ext cx="792480" cy="1828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45480" y="506577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0,00</a:t>
            </a:r>
            <a:endParaRPr lang="en-US" sz="1400"/>
          </a:p>
        </p:txBody>
      </p:sp>
      <p:sp>
        <p:nvSpPr>
          <p:cNvPr id="26" name="Text 23"/>
          <p:cNvSpPr txBox="1"/>
          <p:nvPr/>
        </p:nvSpPr>
        <p:spPr>
          <a:xfrm>
            <a:off x="5745480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300"/>
          </a:p>
        </p:txBody>
      </p:sp>
      <p:sp>
        <p:nvSpPr>
          <p:cNvPr id="27" name="Shape 24"/>
          <p:cNvSpPr/>
          <p:nvPr/>
        </p:nvSpPr>
        <p:spPr>
          <a:xfrm>
            <a:off x="960120" y="5394960"/>
            <a:ext cx="576072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1691640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80960" y="1856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probabilities</a:t>
            </a:r>
            <a:endParaRPr lang="en-US" sz="1600"/>
          </a:p>
        </p:txBody>
      </p:sp>
      <p:sp>
        <p:nvSpPr>
          <p:cNvPr id="30" name="Text 27"/>
          <p:cNvSpPr txBox="1"/>
          <p:nvPr/>
        </p:nvSpPr>
        <p:spPr>
          <a:xfrm>
            <a:off x="7680960" y="22402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crença do modelo em cada nível. Soma 1,00. É o produto de verdade.</a:t>
            </a:r>
            <a:endParaRPr lang="en-US" sz="1300"/>
          </a:p>
        </p:txBody>
      </p:sp>
      <p:sp>
        <p:nvSpPr>
          <p:cNvPr id="31" name="Shape 28"/>
          <p:cNvSpPr/>
          <p:nvPr/>
        </p:nvSpPr>
        <p:spPr>
          <a:xfrm>
            <a:off x="7406640" y="3172968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680960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confidence  0,62</a:t>
            </a:r>
            <a:endParaRPr lang="en-US" sz="1600"/>
          </a:p>
        </p:txBody>
      </p:sp>
      <p:sp>
        <p:nvSpPr>
          <p:cNvPr id="33" name="Text 30"/>
          <p:cNvSpPr txBox="1"/>
          <p:nvPr/>
        </p:nvSpPr>
        <p:spPr>
          <a:xfrm>
            <a:off x="7680960" y="372160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quanto ele está concentrado num nível só. Baixa = candidata à revisão humana.</a:t>
            </a:r>
            <a:endParaRPr lang="en-US" sz="1300"/>
          </a:p>
        </p:txBody>
      </p:sp>
      <p:sp>
        <p:nvSpPr>
          <p:cNvPr id="34" name="Shape 31"/>
          <p:cNvSpPr/>
          <p:nvPr/>
        </p:nvSpPr>
        <p:spPr>
          <a:xfrm>
            <a:off x="7406640" y="4654296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680960" y="4818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score  2,49</a:t>
            </a:r>
            <a:endParaRPr lang="en-US" sz="1600"/>
          </a:p>
        </p:txBody>
      </p:sp>
      <p:sp>
        <p:nvSpPr>
          <p:cNvPr id="36" name="Text 33"/>
          <p:cNvSpPr txBox="1"/>
          <p:nvPr/>
        </p:nvSpPr>
        <p:spPr>
          <a:xfrm>
            <a:off x="7680960" y="5202936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Parece o nível escolhido. Não é. Guarde esta dúvida para o próximo slide.</a:t>
            </a:r>
            <a:endParaRPr lang="en-US" sz="13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PEGADINHA MAIS IMPORTANTE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score não é o nível escolhido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12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325880"/>
          </a:xfrm>
          <a:prstGeom prst="roundRect">
            <a:avLst>
              <a:gd name="adj" fmla="val 9655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69164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score é o valor esperado, a média ponderada dos níveis</a:t>
            </a:r>
            <a:endParaRPr lang="en-US" sz="1800"/>
          </a:p>
          <a:p>
            <a:pPr marL="0" indent="0">
              <a:spcAft>
                <a:spcPts val="400"/>
              </a:spcAft>
              <a:buNone/>
            </a:pPr>
            <a:r>
              <a:rPr lang="en-US" sz="200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0×0,00 + 1×0,04 + 2×0,48 + 3×0,43 + 4×0,05 + 5×0,00 = 2,49</a:t>
            </a:r>
            <a:endParaRPr lang="en-US" sz="1800"/>
          </a:p>
        </p:txBody>
      </p:sp>
      <p:sp>
        <p:nvSpPr>
          <p:cNvPr id="9" name="Text 6"/>
          <p:cNvSpPr txBox="1"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Um caso real do laboratório</a:t>
            </a:r>
            <a:endParaRPr lang="en-US" sz="140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5486400" cy="1051560"/>
          </a:xfrm>
          <a:prstGeom prst="roundRect">
            <a:avLst>
              <a:gd name="adj" fmla="val 10435"/>
            </a:avLst>
          </a:prstGeom>
          <a:solidFill>
            <a:srgbClr val="1610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38404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score: </a:t>
            </a:r>
            <a:r>
              <a:rPr lang="en-US" sz="15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0.51</a:t>
            </a:r>
            <a:endParaRPr lang="en-US" sz="1500"/>
          </a:p>
          <a:p>
            <a:pPr marL="0" indent="0">
              <a:lnSpc>
                <a:spcPct val="115000"/>
              </a:lnSpc>
              <a:buNone/>
            </a:pPr>
            <a:r>
              <a:rPr lang="en-US" sz="15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probabilities: </a:t>
            </a:r>
            <a:r>
              <a:rPr lang="en-US" sz="15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{0: 0.50, 1: 0.49, 2: 0.01}</a:t>
            </a:r>
            <a:endParaRPr lang="en-US" sz="1500"/>
          </a:p>
        </p:txBody>
      </p:sp>
      <p:sp>
        <p:nvSpPr>
          <p:cNvPr id="12" name="Shape 9"/>
          <p:cNvSpPr/>
          <p:nvPr/>
        </p:nvSpPr>
        <p:spPr>
          <a:xfrm>
            <a:off x="548640" y="4846320"/>
            <a:ext cx="548640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8463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score tratado como nível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3566160" y="48463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DejaVu Sans Mono"/>
                <a:ea typeface="DejaVu Sans Mono"/>
                <a:cs typeface="DejaVu Sans Mono"/>
              </a:rPr>
              <a:t>0,51 × 40</a:t>
            </a:r>
            <a:endParaRPr lang="en-US" sz="1400"/>
          </a:p>
        </p:txBody>
      </p:sp>
      <p:sp>
        <p:nvSpPr>
          <p:cNvPr id="15" name="Text 12"/>
          <p:cNvSpPr txBox="1"/>
          <p:nvPr/>
        </p:nvSpPr>
        <p:spPr>
          <a:xfrm>
            <a:off x="4846320" y="484632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20 pts</a:t>
            </a:r>
            <a:endParaRPr lang="en-US" sz="1600"/>
          </a:p>
        </p:txBody>
      </p:sp>
      <p:sp>
        <p:nvSpPr>
          <p:cNvPr id="16" name="Shape 13"/>
          <p:cNvSpPr/>
          <p:nvPr/>
        </p:nvSpPr>
        <p:spPr>
          <a:xfrm>
            <a:off x="548640" y="5468112"/>
            <a:ext cx="548640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46811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nível mais provável (argmax)</a:t>
            </a:r>
            <a:endParaRPr lang="en-US" sz="1400"/>
          </a:p>
        </p:txBody>
      </p:sp>
      <p:sp>
        <p:nvSpPr>
          <p:cNvPr id="18" name="Text 15"/>
          <p:cNvSpPr txBox="1"/>
          <p:nvPr/>
        </p:nvSpPr>
        <p:spPr>
          <a:xfrm>
            <a:off x="3566160" y="546811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DejaVu Sans Mono"/>
                <a:ea typeface="DejaVu Sans Mono"/>
                <a:cs typeface="DejaVu Sans Mono"/>
              </a:rPr>
              <a:t>0 × 40</a:t>
            </a:r>
            <a:endParaRPr lang="en-US" sz="1400"/>
          </a:p>
        </p:txBody>
      </p:sp>
      <p:sp>
        <p:nvSpPr>
          <p:cNvPr id="19" name="Text 16"/>
          <p:cNvSpPr txBox="1"/>
          <p:nvPr/>
        </p:nvSpPr>
        <p:spPr>
          <a:xfrm>
            <a:off x="4846320" y="546811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>
                <a:solidFill>
                  <a:srgbClr val="1F9D55"/>
                </a:solidFill>
                <a:latin typeface="Montserrat"/>
                <a:ea typeface="Montserrat"/>
                <a:cs typeface="Montserrat"/>
              </a:rPr>
              <a:t>0 pts</a:t>
            </a:r>
            <a:endParaRPr lang="en-US" sz="1600"/>
          </a:p>
        </p:txBody>
      </p:sp>
      <p:sp>
        <p:nvSpPr>
          <p:cNvPr id="20" name="Shape 17"/>
          <p:cNvSpPr/>
          <p:nvPr/>
        </p:nvSpPr>
        <p:spPr>
          <a:xfrm>
            <a:off x="6492240" y="3246120"/>
            <a:ext cx="5148072" cy="2834640"/>
          </a:xfrm>
          <a:prstGeom prst="roundRect">
            <a:avLst>
              <a:gd name="adj" fmla="val 451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66560" y="34747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20 não existe no ENEM.</a:t>
            </a:r>
            <a:endParaRPr lang="en-US" sz="2200"/>
          </a:p>
        </p:txBody>
      </p:sp>
      <p:sp>
        <p:nvSpPr>
          <p:cNvPr id="22" name="Text 19"/>
          <p:cNvSpPr txBox="1"/>
          <p:nvPr/>
        </p:nvSpPr>
        <p:spPr>
          <a:xfrm>
            <a:off x="6766560" y="40233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As notas são múltiplos de 40. O bug não trava, não avisa, e o CSV sai bonito — com o número errado.</a:t>
            </a:r>
            <a:endParaRPr lang="en-US" sz="1500"/>
          </a:p>
        </p:txBody>
      </p:sp>
      <p:sp>
        <p:nvSpPr>
          <p:cNvPr id="23" name="Text 20"/>
          <p:cNvSpPr txBox="1"/>
          <p:nvPr/>
        </p:nvSpPr>
        <p:spPr>
          <a:xfrm>
            <a:off x="6766560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Lição transferível: </a:t>
            </a: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quando uma API devolve um número, pergunte que grandeza ele mede.</a:t>
            </a:r>
            <a:endParaRPr lang="en-US" sz="15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O PRINCÍPIO DE PROJETO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Grave o dado cru, derive as leituras depois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13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nota_argmax</a:t>
            </a:r>
            <a:endParaRPr lang="en-US" sz="1800"/>
          </a:p>
        </p:txBody>
      </p:sp>
      <p:sp>
        <p:nvSpPr>
          <p:cNvPr id="9" name="Text 6"/>
          <p:cNvSpPr txBox="1"/>
          <p:nvPr/>
        </p:nvSpPr>
        <p:spPr>
          <a:xfrm>
            <a:off x="3474720" y="1938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nível mais provável × 40</a:t>
            </a:r>
            <a:endParaRPr lang="en-US" sz="1200"/>
          </a:p>
        </p:txBody>
      </p:sp>
      <p:sp>
        <p:nvSpPr>
          <p:cNvPr id="10" name="Text 7"/>
          <p:cNvSpPr txBox="1"/>
          <p:nvPr/>
        </p:nvSpPr>
        <p:spPr>
          <a:xfrm>
            <a:off x="868680" y="24231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nota ENEM discreta — sempre múltiplo de 40. É a que um professor escreveria.</a:t>
            </a:r>
            <a:endParaRPr lang="en-US" sz="1500"/>
          </a:p>
        </p:txBody>
      </p:sp>
      <p:sp>
        <p:nvSpPr>
          <p:cNvPr id="11" name="Shape 8"/>
          <p:cNvSpPr/>
          <p:nvPr/>
        </p:nvSpPr>
        <p:spPr>
          <a:xfrm>
            <a:off x="6190488" y="16916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10528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nota_esperada</a:t>
            </a:r>
            <a:endParaRPr lang="en-US" sz="1800"/>
          </a:p>
        </p:txBody>
      </p:sp>
      <p:sp>
        <p:nvSpPr>
          <p:cNvPr id="13" name="Text 10"/>
          <p:cNvSpPr txBox="1"/>
          <p:nvPr/>
        </p:nvSpPr>
        <p:spPr>
          <a:xfrm>
            <a:off x="9116568" y="1938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score × 40</a:t>
            </a:r>
            <a:endParaRPr lang="en-US" sz="1200"/>
          </a:p>
        </p:txBody>
      </p:sp>
      <p:sp>
        <p:nvSpPr>
          <p:cNvPr id="14" name="Text 11"/>
          <p:cNvSpPr txBox="1"/>
          <p:nvPr/>
        </p:nvSpPr>
        <p:spPr>
          <a:xfrm>
            <a:off x="6510528" y="24231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Sinal contínuo. Não é nota válida, mas correlaciona melhor porque carrega a dúvida.</a:t>
            </a:r>
            <a:endParaRPr lang="en-US" sz="1500"/>
          </a:p>
        </p:txBody>
      </p:sp>
      <p:sp>
        <p:nvSpPr>
          <p:cNvPr id="15" name="Shape 12"/>
          <p:cNvSpPr/>
          <p:nvPr/>
        </p:nvSpPr>
        <p:spPr>
          <a:xfrm>
            <a:off x="548640" y="35204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score_bruto</a:t>
            </a:r>
            <a:endParaRPr lang="en-US" sz="1800"/>
          </a:p>
        </p:txBody>
      </p:sp>
      <p:sp>
        <p:nvSpPr>
          <p:cNvPr id="17" name="Text 14"/>
          <p:cNvSpPr txBox="1"/>
          <p:nvPr/>
        </p:nvSpPr>
        <p:spPr>
          <a:xfrm>
            <a:off x="3474720" y="37673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o score original</a:t>
            </a:r>
            <a:endParaRPr lang="en-US" sz="1200"/>
          </a:p>
        </p:txBody>
      </p:sp>
      <p:sp>
        <p:nvSpPr>
          <p:cNvPr id="18" name="Text 15"/>
          <p:cNvSpPr txBox="1"/>
          <p:nvPr/>
        </p:nvSpPr>
        <p:spPr>
          <a:xfrm>
            <a:off x="868680" y="42519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Guardado sem transformação, para auditoria.</a:t>
            </a:r>
            <a:endParaRPr lang="en-US" sz="1500"/>
          </a:p>
        </p:txBody>
      </p:sp>
      <p:sp>
        <p:nvSpPr>
          <p:cNvPr id="19" name="Shape 16"/>
          <p:cNvSpPr/>
          <p:nvPr/>
        </p:nvSpPr>
        <p:spPr>
          <a:xfrm>
            <a:off x="6190488" y="35204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10528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probabilities</a:t>
            </a:r>
            <a:endParaRPr lang="en-US" sz="1800"/>
          </a:p>
        </p:txBody>
      </p:sp>
      <p:sp>
        <p:nvSpPr>
          <p:cNvPr id="21" name="Text 18"/>
          <p:cNvSpPr txBox="1"/>
          <p:nvPr/>
        </p:nvSpPr>
        <p:spPr>
          <a:xfrm>
            <a:off x="9116568" y="37673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a distribuição inteira</a:t>
            </a:r>
            <a:endParaRPr lang="en-US" sz="1200"/>
          </a:p>
        </p:txBody>
      </p:sp>
      <p:sp>
        <p:nvSpPr>
          <p:cNvPr id="22" name="Text 19"/>
          <p:cNvSpPr txBox="1"/>
          <p:nvPr/>
        </p:nvSpPr>
        <p:spPr>
          <a:xfrm>
            <a:off x="6510528" y="42519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Permite responder qualquer pergunta nova sem chamada nova.</a:t>
            </a:r>
            <a:endParaRPr lang="en-US" sz="1500"/>
          </a:p>
        </p:txBody>
      </p:sp>
      <p:sp>
        <p:nvSpPr>
          <p:cNvPr id="23" name="Shape 20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866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 o script gravasse só a nota final, cada ideia nova custaria 100 chamadas. Com o cru, custa 5 segundos.</a:t>
            </a:r>
            <a:endParaRPr lang="en-US"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DA REDAÇÃO À NOTA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escada de conversão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14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texto da redação</a:t>
            </a:r>
            <a:endParaRPr lang="en-US" sz="190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vai em state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2514600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1" name="Shape 8"/>
          <p:cNvSpPr/>
          <p:nvPr/>
        </p:nvSpPr>
        <p:spPr>
          <a:xfrm>
            <a:off x="2825496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08376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Jev</a:t>
            </a:r>
            <a:endParaRPr lang="en-US" sz="1900"/>
          </a:p>
        </p:txBody>
      </p:sp>
      <p:sp>
        <p:nvSpPr>
          <p:cNvPr id="13" name="Text 10"/>
          <p:cNvSpPr txBox="1"/>
          <p:nvPr/>
        </p:nvSpPr>
        <p:spPr>
          <a:xfrm>
            <a:off x="3008376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lê as 6 âncoras de cada competência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4791456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5" name="Shape 12"/>
          <p:cNvSpPr/>
          <p:nvPr/>
        </p:nvSpPr>
        <p:spPr>
          <a:xfrm>
            <a:off x="5102352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85232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nível 0–5</a:t>
            </a:r>
            <a:endParaRPr lang="en-US" sz="1900"/>
          </a:p>
        </p:txBody>
      </p:sp>
      <p:sp>
        <p:nvSpPr>
          <p:cNvPr id="17" name="Text 14"/>
          <p:cNvSpPr txBox="1"/>
          <p:nvPr/>
        </p:nvSpPr>
        <p:spPr>
          <a:xfrm>
            <a:off x="5285232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por competência</a:t>
            </a:r>
            <a:endParaRPr lang="en-US" sz="1300"/>
          </a:p>
        </p:txBody>
      </p:sp>
      <p:sp>
        <p:nvSpPr>
          <p:cNvPr id="18" name="Text 15"/>
          <p:cNvSpPr txBox="1"/>
          <p:nvPr/>
        </p:nvSpPr>
        <p:spPr>
          <a:xfrm>
            <a:off x="7068312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9" name="Shape 16"/>
          <p:cNvSpPr/>
          <p:nvPr/>
        </p:nvSpPr>
        <p:spPr>
          <a:xfrm>
            <a:off x="7379208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62088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nota 0–200</a:t>
            </a:r>
            <a:endParaRPr lang="en-US" sz="1900"/>
          </a:p>
        </p:txBody>
      </p:sp>
      <p:sp>
        <p:nvSpPr>
          <p:cNvPr id="21" name="Text 18"/>
          <p:cNvSpPr txBox="1"/>
          <p:nvPr/>
        </p:nvSpPr>
        <p:spPr>
          <a:xfrm>
            <a:off x="7562088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nível × 40</a:t>
            </a:r>
            <a:endParaRPr lang="en-US" sz="1300"/>
          </a:p>
        </p:txBody>
      </p:sp>
      <p:sp>
        <p:nvSpPr>
          <p:cNvPr id="22" name="Text 19"/>
          <p:cNvSpPr txBox="1"/>
          <p:nvPr/>
        </p:nvSpPr>
        <p:spPr>
          <a:xfrm>
            <a:off x="9345168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23" name="Shape 20"/>
          <p:cNvSpPr/>
          <p:nvPr/>
        </p:nvSpPr>
        <p:spPr>
          <a:xfrm>
            <a:off x="9656064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38944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total 0–1000</a:t>
            </a:r>
            <a:endParaRPr lang="en-US" sz="1900"/>
          </a:p>
        </p:txBody>
      </p:sp>
      <p:sp>
        <p:nvSpPr>
          <p:cNvPr id="25" name="Text 22"/>
          <p:cNvSpPr txBox="1"/>
          <p:nvPr/>
        </p:nvSpPr>
        <p:spPr>
          <a:xfrm>
            <a:off x="9838944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soma das 5 competências</a:t>
            </a:r>
            <a:endParaRPr lang="en-US" sz="1300"/>
          </a:p>
        </p:txBody>
      </p:sp>
      <p:sp>
        <p:nvSpPr>
          <p:cNvPr id="26" name="Shape 23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7368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680" y="4480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× 40</a:t>
            </a:r>
            <a:endParaRPr lang="en-US" sz="4800"/>
          </a:p>
        </p:txBody>
      </p:sp>
      <p:sp>
        <p:nvSpPr>
          <p:cNvPr id="28" name="Text 25"/>
          <p:cNvSpPr txBox="1"/>
          <p:nvPr/>
        </p:nvSpPr>
        <p:spPr>
          <a:xfrm>
            <a:off x="868680" y="52578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é toda a matemática do projeto: 6 níveis, 200 pontos por competência, 5 competências = 1000.</a:t>
            </a:r>
            <a:endParaRPr lang="en-US" sz="1400"/>
          </a:p>
        </p:txBody>
      </p:sp>
      <p:sp>
        <p:nvSpPr>
          <p:cNvPr id="29" name="Shape 26"/>
          <p:cNvSpPr/>
          <p:nvPr/>
        </p:nvSpPr>
        <p:spPr>
          <a:xfrm>
            <a:off x="6245352" y="4343400"/>
            <a:ext cx="53949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37960" y="45262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40 mora num lugar só: </a:t>
            </a: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"escala": 40</a:t>
            </a:r>
            <a:r>
              <a:rPr lang="en-US" sz="16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no rubric.json. Mudar a régua não exige tocar no código.</a:t>
            </a:r>
            <a:endParaRPr lang="en-US" sz="1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ARQUITETURA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pipeline: quatro arquivos, um caminho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15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sample.py</a:t>
            </a:r>
            <a:endParaRPr lang="en-US" sz="1600"/>
          </a:p>
        </p:txBody>
      </p:sp>
      <p:sp>
        <p:nvSpPr>
          <p:cNvPr id="9" name="Text 6"/>
          <p:cNvSpPr txBox="1"/>
          <p:nvPr/>
        </p:nvSpPr>
        <p:spPr>
          <a:xfrm>
            <a:off x="73152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escolhe quem avaliar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269748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1" name="Shape 8"/>
          <p:cNvSpPr/>
          <p:nvPr/>
        </p:nvSpPr>
        <p:spPr>
          <a:xfrm>
            <a:off x="310896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sample.jsonl</a:t>
            </a:r>
            <a:endParaRPr lang="en-US" sz="1600"/>
          </a:p>
        </p:txBody>
      </p:sp>
      <p:sp>
        <p:nvSpPr>
          <p:cNvPr id="13" name="Text 10"/>
          <p:cNvSpPr txBox="1"/>
          <p:nvPr/>
        </p:nvSpPr>
        <p:spPr>
          <a:xfrm>
            <a:off x="329184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100 redações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525780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5" name="Shape 12"/>
          <p:cNvSpPr/>
          <p:nvPr/>
        </p:nvSpPr>
        <p:spPr>
          <a:xfrm>
            <a:off x="566928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evaluate.py</a:t>
            </a:r>
            <a:endParaRPr lang="en-US" sz="1600"/>
          </a:p>
        </p:txBody>
      </p:sp>
      <p:sp>
        <p:nvSpPr>
          <p:cNvPr id="17" name="Text 14"/>
          <p:cNvSpPr txBox="1"/>
          <p:nvPr/>
        </p:nvSpPr>
        <p:spPr>
          <a:xfrm>
            <a:off x="585216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pergunta ao Jev</a:t>
            </a:r>
            <a:endParaRPr lang="en-US" sz="1300"/>
          </a:p>
        </p:txBody>
      </p:sp>
      <p:sp>
        <p:nvSpPr>
          <p:cNvPr id="18" name="Text 15"/>
          <p:cNvSpPr txBox="1"/>
          <p:nvPr/>
        </p:nvSpPr>
        <p:spPr>
          <a:xfrm>
            <a:off x="781812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⇄</a:t>
            </a:r>
            <a:endParaRPr lang="en-US" sz="2200"/>
          </a:p>
        </p:txBody>
      </p:sp>
      <p:sp>
        <p:nvSpPr>
          <p:cNvPr id="19" name="Shape 16"/>
          <p:cNvSpPr/>
          <p:nvPr/>
        </p:nvSpPr>
        <p:spPr>
          <a:xfrm>
            <a:off x="8229600" y="1783080"/>
            <a:ext cx="3410712" cy="1143000"/>
          </a:xfrm>
          <a:prstGeom prst="roundRect">
            <a:avLst>
              <a:gd name="adj" fmla="val 1120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21040" y="1938528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AI Gateway → Jev</a:t>
            </a:r>
            <a:endParaRPr lang="en-US" sz="1300"/>
          </a:p>
        </p:txBody>
      </p:sp>
      <p:sp>
        <p:nvSpPr>
          <p:cNvPr id="21" name="Text 18"/>
          <p:cNvSpPr txBox="1"/>
          <p:nvPr/>
        </p:nvSpPr>
        <p:spPr>
          <a:xfrm>
            <a:off x="8412480" y="237744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Vercel cobra; TypeSafe AI decide</a:t>
            </a:r>
            <a:endParaRPr lang="en-US" sz="1300"/>
          </a:p>
        </p:txBody>
      </p:sp>
      <p:sp>
        <p:nvSpPr>
          <p:cNvPr id="22" name="Shape 19"/>
          <p:cNvSpPr/>
          <p:nvPr/>
        </p:nvSpPr>
        <p:spPr>
          <a:xfrm>
            <a:off x="566928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6072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rubric.json</a:t>
            </a:r>
            <a:endParaRPr lang="en-US" sz="1600"/>
          </a:p>
        </p:txBody>
      </p:sp>
      <p:sp>
        <p:nvSpPr>
          <p:cNvPr id="24" name="Text 21"/>
          <p:cNvSpPr txBox="1"/>
          <p:nvPr/>
        </p:nvSpPr>
        <p:spPr>
          <a:xfrm>
            <a:off x="585216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régua</a:t>
            </a:r>
            <a:endParaRPr lang="en-US" sz="1300"/>
          </a:p>
        </p:txBody>
      </p:sp>
      <p:sp>
        <p:nvSpPr>
          <p:cNvPr id="25" name="Text 22"/>
          <p:cNvSpPr txBox="1"/>
          <p:nvPr/>
        </p:nvSpPr>
        <p:spPr>
          <a:xfrm>
            <a:off x="6537960" y="3017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↑</a:t>
            </a:r>
            <a:endParaRPr lang="en-US" sz="2200"/>
          </a:p>
        </p:txBody>
      </p:sp>
      <p:sp>
        <p:nvSpPr>
          <p:cNvPr id="26" name="Text 23"/>
          <p:cNvSpPr txBox="1"/>
          <p:nvPr/>
        </p:nvSpPr>
        <p:spPr>
          <a:xfrm>
            <a:off x="5257800" y="3017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↓</a:t>
            </a:r>
            <a:endParaRPr lang="en-US" sz="2200"/>
          </a:p>
        </p:txBody>
      </p:sp>
      <p:sp>
        <p:nvSpPr>
          <p:cNvPr id="27" name="Shape 24"/>
          <p:cNvSpPr/>
          <p:nvPr/>
        </p:nvSpPr>
        <p:spPr>
          <a:xfrm>
            <a:off x="310896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20040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resultados-*.jsonl</a:t>
            </a:r>
            <a:endParaRPr lang="en-US" sz="1300"/>
          </a:p>
        </p:txBody>
      </p:sp>
      <p:sp>
        <p:nvSpPr>
          <p:cNvPr id="29" name="Text 26"/>
          <p:cNvSpPr txBox="1"/>
          <p:nvPr/>
        </p:nvSpPr>
        <p:spPr>
          <a:xfrm>
            <a:off x="329184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cache das respostas</a:t>
            </a:r>
            <a:endParaRPr lang="en-US" sz="1300"/>
          </a:p>
        </p:txBody>
      </p:sp>
      <p:sp>
        <p:nvSpPr>
          <p:cNvPr id="30" name="Text 27"/>
          <p:cNvSpPr txBox="1"/>
          <p:nvPr/>
        </p:nvSpPr>
        <p:spPr>
          <a:xfrm>
            <a:off x="2697480" y="39593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←</a:t>
            </a:r>
            <a:endParaRPr lang="en-US" sz="2200"/>
          </a:p>
        </p:txBody>
      </p:sp>
      <p:sp>
        <p:nvSpPr>
          <p:cNvPr id="31" name="Shape 28"/>
          <p:cNvSpPr/>
          <p:nvPr/>
        </p:nvSpPr>
        <p:spPr>
          <a:xfrm>
            <a:off x="54864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compare.py</a:t>
            </a:r>
            <a:endParaRPr lang="en-US" sz="1600"/>
          </a:p>
        </p:txBody>
      </p:sp>
      <p:sp>
        <p:nvSpPr>
          <p:cNvPr id="33" name="Text 30"/>
          <p:cNvSpPr txBox="1"/>
          <p:nvPr/>
        </p:nvSpPr>
        <p:spPr>
          <a:xfrm>
            <a:off x="73152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mede a concordância</a:t>
            </a:r>
            <a:endParaRPr lang="en-US" sz="1300"/>
          </a:p>
        </p:txBody>
      </p:sp>
      <p:sp>
        <p:nvSpPr>
          <p:cNvPr id="34" name="Shape 31"/>
          <p:cNvSpPr/>
          <p:nvPr/>
        </p:nvSpPr>
        <p:spPr>
          <a:xfrm>
            <a:off x="548640" y="5074920"/>
            <a:ext cx="11091672" cy="1005840"/>
          </a:xfrm>
          <a:prstGeom prst="roundRect">
            <a:avLst>
              <a:gd name="adj" fmla="val 1272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8680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Regra de ouro: </a:t>
            </a:r>
            <a:r>
              <a:rPr lang="en-US" sz="17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compare.py</a:t>
            </a:r>
            <a:r>
              <a:rPr lang="en-US" sz="17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nunca chama a API — só lê o cache. Dá para rodar a análise cinquenta vezes de graça.</a:t>
            </a:r>
            <a:endParaRPr lang="en-US" sz="1700"/>
          </a:p>
        </p:txBody>
      </p:sp>
      <p:sp>
        <p:nvSpPr>
          <p:cNvPr id="36" name="Text 33"/>
          <p:cNvSpPr txBox="1"/>
          <p:nvPr/>
        </p:nvSpPr>
        <p:spPr>
          <a:xfrm>
            <a:off x="8229600" y="3611880"/>
            <a:ext cx="34107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única seta de mão dupla é a que sai para a internet.</a:t>
            </a:r>
            <a:endParaRPr lang="en-US"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PADRÕES DE ENGENHARIA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Padrões de engenharia do projeto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16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2200"/>
          </a:p>
        </p:txBody>
      </p:sp>
      <p:sp>
        <p:nvSpPr>
          <p:cNvPr id="9" name="Text 6"/>
          <p:cNvSpPr txBox="1"/>
          <p:nvPr/>
        </p:nvSpPr>
        <p:spPr>
          <a:xfrm>
            <a:off x="822960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Pipeline</a:t>
            </a:r>
            <a:endParaRPr lang="en-US" sz="180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Cada etapa recebe a saída da anterior e não sabe nada das outras.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90288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2200"/>
          </a:p>
        </p:txBody>
      </p:sp>
      <p:sp>
        <p:nvSpPr>
          <p:cNvPr id="13" name="Text 10"/>
          <p:cNvSpPr txBox="1"/>
          <p:nvPr/>
        </p:nvSpPr>
        <p:spPr>
          <a:xfrm>
            <a:off x="4590288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Cache-aside</a:t>
            </a:r>
            <a:endParaRPr lang="en-US" sz="1800"/>
          </a:p>
        </p:txBody>
      </p:sp>
      <p:sp>
        <p:nvSpPr>
          <p:cNvPr id="14" name="Text 11"/>
          <p:cNvSpPr txBox="1"/>
          <p:nvPr/>
        </p:nvSpPr>
        <p:spPr>
          <a:xfrm>
            <a:off x="4590288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Antes de gastar uma chamada, veja se a resposta já está no disco.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8083296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7616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03</a:t>
            </a:r>
            <a:endParaRPr lang="en-US" sz="2200"/>
          </a:p>
        </p:txBody>
      </p:sp>
      <p:sp>
        <p:nvSpPr>
          <p:cNvPr id="17" name="Text 14"/>
          <p:cNvSpPr txBox="1"/>
          <p:nvPr/>
        </p:nvSpPr>
        <p:spPr>
          <a:xfrm>
            <a:off x="8357616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Idempotência</a:t>
            </a:r>
            <a:endParaRPr lang="en-US" sz="1800"/>
          </a:p>
        </p:txBody>
      </p:sp>
      <p:sp>
        <p:nvSpPr>
          <p:cNvPr id="18" name="Text 15"/>
          <p:cNvSpPr txBox="1"/>
          <p:nvPr/>
        </p:nvSpPr>
        <p:spPr>
          <a:xfrm>
            <a:off x="8357616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Rodar de novo não estraga nada: o evaluate.py pula o que já está em cache.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548640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04</a:t>
            </a:r>
            <a:endParaRPr lang="en-US" sz="2200"/>
          </a:p>
        </p:txBody>
      </p:sp>
      <p:sp>
        <p:nvSpPr>
          <p:cNvPr id="21" name="Text 18"/>
          <p:cNvSpPr txBox="1"/>
          <p:nvPr/>
        </p:nvSpPr>
        <p:spPr>
          <a:xfrm>
            <a:off x="822960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JSONL</a:t>
            </a:r>
            <a:endParaRPr lang="en-US" sz="1800"/>
          </a:p>
        </p:txBody>
      </p:sp>
      <p:sp>
        <p:nvSpPr>
          <p:cNvPr id="22" name="Text 19"/>
          <p:cNvSpPr txBox="1"/>
          <p:nvPr/>
        </p:nvSpPr>
        <p:spPr>
          <a:xfrm>
            <a:off x="822960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Um JSON por linha: grava incrementalmente e não perde trabalho se travar na redação 73.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4315968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90288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05</a:t>
            </a:r>
            <a:endParaRPr lang="en-US" sz="2200"/>
          </a:p>
        </p:txBody>
      </p:sp>
      <p:sp>
        <p:nvSpPr>
          <p:cNvPr id="25" name="Text 22"/>
          <p:cNvSpPr txBox="1"/>
          <p:nvPr/>
        </p:nvSpPr>
        <p:spPr>
          <a:xfrm>
            <a:off x="4590288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Fail-fast</a:t>
            </a:r>
            <a:endParaRPr lang="en-US" sz="1800"/>
          </a:p>
        </p:txBody>
      </p:sp>
      <p:sp>
        <p:nvSpPr>
          <p:cNvPr id="26" name="Text 23"/>
          <p:cNvSpPr txBox="1"/>
          <p:nvPr/>
        </p:nvSpPr>
        <p:spPr>
          <a:xfrm>
            <a:off x="4590288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Para no 401/403 e em resposta vazia, com backoff no 429. Pipeline que “roda” e mente é o pior.</a:t>
            </a:r>
            <a:endParaRPr lang="en-US" sz="1300"/>
          </a:p>
        </p:txBody>
      </p:sp>
      <p:sp>
        <p:nvSpPr>
          <p:cNvPr id="27" name="Shape 24"/>
          <p:cNvSpPr/>
          <p:nvPr/>
        </p:nvSpPr>
        <p:spPr>
          <a:xfrm>
            <a:off x="8083296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57616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06</a:t>
            </a:r>
            <a:endParaRPr lang="en-US" sz="2200"/>
          </a:p>
        </p:txBody>
      </p:sp>
      <p:sp>
        <p:nvSpPr>
          <p:cNvPr id="29" name="Text 26"/>
          <p:cNvSpPr txBox="1"/>
          <p:nvPr/>
        </p:nvSpPr>
        <p:spPr>
          <a:xfrm>
            <a:off x="8357616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Função pura</a:t>
            </a:r>
            <a:endParaRPr lang="en-US" sz="1800"/>
          </a:p>
        </p:txBody>
      </p:sp>
      <p:sp>
        <p:nvSpPr>
          <p:cNvPr id="30" name="Text 27"/>
          <p:cNvSpPr txBox="1"/>
          <p:nvPr/>
        </p:nvSpPr>
        <p:spPr>
          <a:xfrm>
            <a:off x="8357616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extrair_notas, qwk, pearson: testáveis sem internet, só com um dicionário.</a:t>
            </a:r>
            <a:endParaRPr lang="en-US" sz="13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MÉTRICAS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Cinco medidas, nenhuma basta sozinha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17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57200"/>
          </a:xfrm>
          <a:prstGeom prst="rect">
            <a:avLst/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Medida</a:t>
            </a:r>
            <a:endParaRPr lang="en-US" sz="1300"/>
          </a:p>
        </p:txBody>
      </p:sp>
      <p:sp>
        <p:nvSpPr>
          <p:cNvPr id="9" name="Text 6"/>
          <p:cNvSpPr txBox="1"/>
          <p:nvPr/>
        </p:nvSpPr>
        <p:spPr>
          <a:xfrm>
            <a:off x="237744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que responde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516636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Onde engana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148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QWK</a:t>
            </a:r>
            <a:endParaRPr lang="en-US" sz="1500"/>
          </a:p>
        </p:txBody>
      </p:sp>
      <p:sp>
        <p:nvSpPr>
          <p:cNvPr id="13" name="Text 10"/>
          <p:cNvSpPr txBox="1"/>
          <p:nvPr/>
        </p:nvSpPr>
        <p:spPr>
          <a:xfrm>
            <a:off x="237744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concordância, descontando a sorte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516636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difícil de interpretar sozinho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548640" y="2697480"/>
            <a:ext cx="6949440" cy="548640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MAE</a:t>
            </a:r>
            <a:endParaRPr lang="en-US" sz="1500"/>
          </a:p>
        </p:txBody>
      </p:sp>
      <p:sp>
        <p:nvSpPr>
          <p:cNvPr id="17" name="Text 14"/>
          <p:cNvSpPr txBox="1"/>
          <p:nvPr/>
        </p:nvSpPr>
        <p:spPr>
          <a:xfrm>
            <a:off x="2377440" y="2697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de quantos pontos ele erra, em média</a:t>
            </a:r>
            <a:endParaRPr lang="en-US" sz="1300"/>
          </a:p>
        </p:txBody>
      </p:sp>
      <p:sp>
        <p:nvSpPr>
          <p:cNvPr id="18" name="Text 15"/>
          <p:cNvSpPr txBox="1"/>
          <p:nvPr/>
        </p:nvSpPr>
        <p:spPr>
          <a:xfrm>
            <a:off x="516636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não diz se erra pra cima ou pra baixo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548640" y="324612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viés</a:t>
            </a:r>
            <a:endParaRPr lang="en-US" sz="1500"/>
          </a:p>
        </p:txBody>
      </p:sp>
      <p:sp>
        <p:nvSpPr>
          <p:cNvPr id="21" name="Text 18"/>
          <p:cNvSpPr txBox="1"/>
          <p:nvPr/>
        </p:nvSpPr>
        <p:spPr>
          <a:xfrm>
            <a:off x="237744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erra pra cima ou pra baixo?</a:t>
            </a:r>
            <a:endParaRPr lang="en-US" sz="1300"/>
          </a:p>
        </p:txBody>
      </p:sp>
      <p:sp>
        <p:nvSpPr>
          <p:cNvPr id="22" name="Text 19"/>
          <p:cNvSpPr txBox="1"/>
          <p:nvPr/>
        </p:nvSpPr>
        <p:spPr>
          <a:xfrm>
            <a:off x="5166360" y="3246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esconde erros que se cancelam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548640" y="3794760"/>
            <a:ext cx="6949440" cy="548640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3794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exata / adj</a:t>
            </a:r>
            <a:endParaRPr lang="en-US" sz="1500"/>
          </a:p>
        </p:txBody>
      </p:sp>
      <p:sp>
        <p:nvSpPr>
          <p:cNvPr id="25" name="Text 22"/>
          <p:cNvSpPr txBox="1"/>
          <p:nvPr/>
        </p:nvSpPr>
        <p:spPr>
          <a:xfrm>
            <a:off x="237744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acertou a faixa? errou por uma só?</a:t>
            </a:r>
            <a:endParaRPr lang="en-US" sz="1300"/>
          </a:p>
        </p:txBody>
      </p:sp>
      <p:sp>
        <p:nvSpPr>
          <p:cNvPr id="26" name="Text 23"/>
          <p:cNvSpPr txBox="1"/>
          <p:nvPr/>
        </p:nvSpPr>
        <p:spPr>
          <a:xfrm>
            <a:off x="5166360" y="37947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ignora o tamanho do erro grande</a:t>
            </a:r>
            <a:endParaRPr lang="en-US" sz="1300"/>
          </a:p>
        </p:txBody>
      </p:sp>
      <p:sp>
        <p:nvSpPr>
          <p:cNvPr id="27" name="Shape 24"/>
          <p:cNvSpPr/>
          <p:nvPr/>
        </p:nvSpPr>
        <p:spPr>
          <a:xfrm>
            <a:off x="548640" y="434340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43434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 (Pearson)</a:t>
            </a:r>
            <a:endParaRPr lang="en-US" sz="1500"/>
          </a:p>
        </p:txBody>
      </p:sp>
      <p:sp>
        <p:nvSpPr>
          <p:cNvPr id="29" name="Text 26"/>
          <p:cNvSpPr txBox="1"/>
          <p:nvPr/>
        </p:nvSpPr>
        <p:spPr>
          <a:xfrm>
            <a:off x="2377440" y="4343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ordena bem, mesmo errando a nota?</a:t>
            </a:r>
            <a:endParaRPr lang="en-US" sz="1300"/>
          </a:p>
        </p:txBody>
      </p:sp>
      <p:sp>
        <p:nvSpPr>
          <p:cNvPr id="30" name="Text 27"/>
          <p:cNvSpPr txBox="1"/>
          <p:nvPr/>
        </p:nvSpPr>
        <p:spPr>
          <a:xfrm>
            <a:off x="5166360" y="4343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alto mesmo com nota toda deslocada</a:t>
            </a:r>
            <a:endParaRPr lang="en-US" sz="1300"/>
          </a:p>
        </p:txBody>
      </p:sp>
      <p:sp>
        <p:nvSpPr>
          <p:cNvPr id="31" name="Shape 28"/>
          <p:cNvSpPr/>
          <p:nvPr/>
        </p:nvSpPr>
        <p:spPr>
          <a:xfrm>
            <a:off x="7726680" y="1691640"/>
            <a:ext cx="3913632" cy="2743200"/>
          </a:xfrm>
          <a:prstGeom prst="roundRect">
            <a:avLst>
              <a:gd name="adj" fmla="val 466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01000" y="1828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QWK</a:t>
            </a:r>
            <a:endParaRPr lang="en-US" sz="3000"/>
          </a:p>
        </p:txBody>
      </p:sp>
      <p:sp>
        <p:nvSpPr>
          <p:cNvPr id="33" name="Text 30"/>
          <p:cNvSpPr txBox="1"/>
          <p:nvPr/>
        </p:nvSpPr>
        <p:spPr>
          <a:xfrm>
            <a:off x="8001000" y="242316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Quadratic Weighted Kappa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1,0 = concordância perfeita; 0,0 = o mesmo que chutar. Errar por 3 faixas pesa 9× mais que errar por 1.</a:t>
            </a:r>
            <a:endParaRPr lang="en-US" sz="1400"/>
          </a:p>
        </p:txBody>
      </p:sp>
      <p:sp>
        <p:nvSpPr>
          <p:cNvPr id="34" name="Shape 31"/>
          <p:cNvSpPr/>
          <p:nvPr/>
        </p:nvSpPr>
        <p:spPr>
          <a:xfrm>
            <a:off x="7726680" y="4617720"/>
            <a:ext cx="3913632" cy="1463040"/>
          </a:xfrm>
          <a:prstGeom prst="roundRect">
            <a:avLst>
              <a:gd name="adj" fmla="val 8750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01000" y="46177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Todo relatório de IA sem baseline é suspeito.</a:t>
            </a:r>
            <a:endParaRPr lang="en-US" sz="1700"/>
          </a:p>
        </p:txBody>
      </p:sp>
      <p:sp>
        <p:nvSpPr>
          <p:cNvPr id="36" name="Text 33"/>
          <p:cNvSpPr txBox="1"/>
          <p:nvPr/>
        </p:nvSpPr>
        <p:spPr>
          <a:xfrm>
            <a:off x="548640" y="5257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baseline do workshop chuta sempre a nota mais comum do corpus — sem olhar a redação.</a:t>
            </a:r>
            <a:endParaRPr lang="en-US" sz="15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96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 prática: o workshop</a:t>
            </a:r>
            <a:endParaRPr lang="en-US" sz="480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Você monta o corretor, mede contra humanos, tenta melhorar a rubrica e publica o resultado num pull request.</a:t>
            </a:r>
            <a:endParaRPr lang="en-US" sz="2000"/>
          </a:p>
        </p:txBody>
      </p:sp>
      <p:pic>
        <p:nvPicPr>
          <p:cNvPr id="5" name="Image 0" descr="/home/claude/deck/assets/logo-bran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598932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ANTES DO WORKSHOP (~20 MIN EM CASA)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Siga o SETUP.md até a verificação passar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19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64792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700"/>
          </a:p>
        </p:txBody>
      </p:sp>
      <p:sp>
        <p:nvSpPr>
          <p:cNvPr id="9" name="Text 6"/>
          <p:cNvSpPr txBox="1"/>
          <p:nvPr/>
        </p:nvSpPr>
        <p:spPr>
          <a:xfrm>
            <a:off x="1280160" y="16916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Python 3.10+</a:t>
            </a:r>
            <a:endParaRPr lang="en-US" sz="1700"/>
          </a:p>
        </p:txBody>
      </p:sp>
      <p:sp>
        <p:nvSpPr>
          <p:cNvPr id="10" name="Text 7"/>
          <p:cNvSpPr txBox="1"/>
          <p:nvPr/>
        </p:nvSpPr>
        <p:spPr>
          <a:xfrm>
            <a:off x="1280160" y="20391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só a biblioteca padrão — nada de pip install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548640" y="2551176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51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700"/>
          </a:p>
        </p:txBody>
      </p:sp>
      <p:sp>
        <p:nvSpPr>
          <p:cNvPr id="13" name="Text 10"/>
          <p:cNvSpPr txBox="1"/>
          <p:nvPr/>
        </p:nvSpPr>
        <p:spPr>
          <a:xfrm>
            <a:off x="1280160" y="247802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Git configurado</a:t>
            </a:r>
            <a:endParaRPr lang="en-US" sz="1700"/>
          </a:p>
        </p:txBody>
      </p:sp>
      <p:sp>
        <p:nvSpPr>
          <p:cNvPr id="14" name="Text 11"/>
          <p:cNvSpPr txBox="1"/>
          <p:nvPr/>
        </p:nvSpPr>
        <p:spPr>
          <a:xfrm>
            <a:off x="1280160" y="28254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user.name e o mesmo e-mail da conta do GitHub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548640" y="3337560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700"/>
          </a:p>
        </p:txBody>
      </p:sp>
      <p:sp>
        <p:nvSpPr>
          <p:cNvPr id="17" name="Text 14"/>
          <p:cNvSpPr txBox="1"/>
          <p:nvPr/>
        </p:nvSpPr>
        <p:spPr>
          <a:xfrm>
            <a:off x="1280160" y="326440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GitHub autenticado</a:t>
            </a:r>
            <a:endParaRPr lang="en-US" sz="1700"/>
          </a:p>
        </p:txBody>
      </p:sp>
      <p:sp>
        <p:nvSpPr>
          <p:cNvPr id="18" name="Text 15"/>
          <p:cNvSpPr txBox="1"/>
          <p:nvPr/>
        </p:nvSpPr>
        <p:spPr>
          <a:xfrm>
            <a:off x="1280160" y="361188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gh auth login (senha de conta não funciona)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548640" y="4123944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123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700"/>
          </a:p>
        </p:txBody>
      </p:sp>
      <p:sp>
        <p:nvSpPr>
          <p:cNvPr id="21" name="Text 18"/>
          <p:cNvSpPr txBox="1"/>
          <p:nvPr/>
        </p:nvSpPr>
        <p:spPr>
          <a:xfrm>
            <a:off x="1280160" y="40507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Fork e clone</a:t>
            </a:r>
            <a:endParaRPr lang="en-US" sz="1700"/>
          </a:p>
        </p:txBody>
      </p:sp>
      <p:sp>
        <p:nvSpPr>
          <p:cNvPr id="22" name="Text 19"/>
          <p:cNvSpPr txBox="1"/>
          <p:nvPr/>
        </p:nvSpPr>
        <p:spPr>
          <a:xfrm>
            <a:off x="1280160" y="43982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DejaVu Sans Mono"/>
                <a:ea typeface="DejaVu Sans Mono"/>
                <a:cs typeface="DejaVu Sans Mono"/>
              </a:rPr>
              <a:t>gh repo fork webtech-network/workshop-jev --clone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548640" y="4910328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4910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700"/>
          </a:p>
        </p:txBody>
      </p:sp>
      <p:sp>
        <p:nvSpPr>
          <p:cNvPr id="25" name="Text 22"/>
          <p:cNvSpPr txBox="1"/>
          <p:nvPr/>
        </p:nvSpPr>
        <p:spPr>
          <a:xfrm>
            <a:off x="1280160" y="48371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Chave da API</a:t>
            </a:r>
            <a:endParaRPr lang="en-US" sz="1700"/>
          </a:p>
        </p:txBody>
      </p:sp>
      <p:sp>
        <p:nvSpPr>
          <p:cNvPr id="26" name="Text 23"/>
          <p:cNvSpPr txBox="1"/>
          <p:nvPr/>
        </p:nvSpPr>
        <p:spPr>
          <a:xfrm>
            <a:off x="1280160" y="51846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.env.local, entregue no dia — nunca no repositório</a:t>
            </a:r>
            <a:endParaRPr lang="en-US" sz="1300"/>
          </a:p>
        </p:txBody>
      </p:sp>
      <p:sp>
        <p:nvSpPr>
          <p:cNvPr id="27" name="Text 24"/>
          <p:cNvSpPr txBox="1"/>
          <p:nvPr/>
        </p:nvSpPr>
        <p:spPr>
          <a:xfrm>
            <a:off x="6492240" y="1691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Verificação final (não gasta API)</a:t>
            </a:r>
            <a:endParaRPr lang="en-US" sz="1400"/>
          </a:p>
        </p:txBody>
      </p:sp>
      <p:sp>
        <p:nvSpPr>
          <p:cNvPr id="28" name="Shape 25"/>
          <p:cNvSpPr/>
          <p:nvPr/>
        </p:nvSpPr>
        <p:spPr>
          <a:xfrm>
            <a:off x="6492240" y="2057400"/>
            <a:ext cx="5148072" cy="3246120"/>
          </a:xfrm>
          <a:prstGeom prst="roundRect">
            <a:avLst>
              <a:gd name="adj" fmla="val 3380"/>
            </a:avLst>
          </a:prstGeom>
          <a:solidFill>
            <a:srgbClr val="16102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766560" y="2286000"/>
            <a:ext cx="459943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evaluate.py --dry-run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8F86A8"/>
                </a:solidFill>
                <a:latin typeface="DejaVu Sans Mono"/>
                <a:ea typeface="DejaVu Sans Mono"/>
                <a:cs typeface="DejaVu Sans Mono"/>
              </a:rPr>
              <a:t>  [dry-run] 100 redacoes seriam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8F86A8"/>
                </a:solidFill>
                <a:latin typeface="DejaVu Sans Mono"/>
                <a:ea typeface="DejaVu Sans Mono"/>
                <a:cs typeface="DejaVu Sans Mono"/>
              </a:rPr>
              <a:t>  avaliadas; nenhuma chamada feita.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compare.py \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--cache referencia/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  resultados-referencia-v1.jsonl \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sample.jsonl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8F86A8"/>
                </a:solidFill>
                <a:latin typeface="DejaVu Sans Mono"/>
                <a:ea typeface="DejaVu Sans Mono"/>
                <a:cs typeface="DejaVu Sans Mono"/>
              </a:rPr>
              <a:t>  TOTAL ... QWK ~0.5</a:t>
            </a:r>
            <a:endParaRPr lang="en-US" sz="1300"/>
          </a:p>
        </p:txBody>
      </p:sp>
      <p:sp>
        <p:nvSpPr>
          <p:cNvPr id="30" name="Shape 27"/>
          <p:cNvSpPr/>
          <p:nvPr/>
        </p:nvSpPr>
        <p:spPr>
          <a:xfrm>
            <a:off x="6492240" y="5440680"/>
            <a:ext cx="5148072" cy="685800"/>
          </a:xfrm>
          <a:prstGeom prst="roundRect">
            <a:avLst>
              <a:gd name="adj" fmla="val 1866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20840" y="54406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Windows: rode tudo no Git Bash, não no CMD nem no PowerShell.</a:t>
            </a:r>
            <a:endParaRPr lang="en-US" sz="1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1 · 20 MIN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fluxo de Git que times usam de verdade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20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upstream</a:t>
            </a:r>
            <a:endParaRPr lang="en-US" sz="1900"/>
          </a:p>
        </p:txBody>
      </p:sp>
      <p:sp>
        <p:nvSpPr>
          <p:cNvPr id="9" name="Text 6"/>
          <p:cNvSpPr txBox="1"/>
          <p:nvPr/>
        </p:nvSpPr>
        <p:spPr>
          <a:xfrm>
            <a:off x="68580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webtech-network/workshop-jev</a:t>
            </a:r>
            <a:endParaRPr lang="en-US" sz="1100"/>
          </a:p>
        </p:txBody>
      </p:sp>
      <p:sp>
        <p:nvSpPr>
          <p:cNvPr id="10" name="Text 7"/>
          <p:cNvSpPr txBox="1"/>
          <p:nvPr/>
        </p:nvSpPr>
        <p:spPr>
          <a:xfrm>
            <a:off x="7315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você lê, não escreve</a:t>
            </a:r>
            <a:endParaRPr lang="en-US" sz="1200"/>
          </a:p>
        </p:txBody>
      </p:sp>
      <p:sp>
        <p:nvSpPr>
          <p:cNvPr id="11" name="Text 8"/>
          <p:cNvSpPr txBox="1"/>
          <p:nvPr/>
        </p:nvSpPr>
        <p:spPr>
          <a:xfrm>
            <a:off x="2560320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12" name="Shape 9"/>
          <p:cNvSpPr/>
          <p:nvPr/>
        </p:nvSpPr>
        <p:spPr>
          <a:xfrm>
            <a:off x="2816352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origin</a:t>
            </a:r>
            <a:endParaRPr lang="en-US" sz="1900"/>
          </a:p>
        </p:txBody>
      </p:sp>
      <p:sp>
        <p:nvSpPr>
          <p:cNvPr id="14" name="Text 11"/>
          <p:cNvSpPr txBox="1"/>
          <p:nvPr/>
        </p:nvSpPr>
        <p:spPr>
          <a:xfrm>
            <a:off x="2953512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SEU-USUARIO/workshop-jev</a:t>
            </a:r>
            <a:endParaRPr lang="en-US" sz="1100"/>
          </a:p>
        </p:txBody>
      </p:sp>
      <p:sp>
        <p:nvSpPr>
          <p:cNvPr id="15" name="Text 12"/>
          <p:cNvSpPr txBox="1"/>
          <p:nvPr/>
        </p:nvSpPr>
        <p:spPr>
          <a:xfrm>
            <a:off x="2999232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seu fork, onde você escreve</a:t>
            </a:r>
            <a:endParaRPr lang="en-US" sz="1200"/>
          </a:p>
        </p:txBody>
      </p:sp>
      <p:sp>
        <p:nvSpPr>
          <p:cNvPr id="16" name="Text 13"/>
          <p:cNvSpPr txBox="1"/>
          <p:nvPr/>
        </p:nvSpPr>
        <p:spPr>
          <a:xfrm>
            <a:off x="4828032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17" name="Shape 14"/>
          <p:cNvSpPr/>
          <p:nvPr/>
        </p:nvSpPr>
        <p:spPr>
          <a:xfrm>
            <a:off x="5084064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66944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clone</a:t>
            </a:r>
            <a:endParaRPr lang="en-US" sz="1900"/>
          </a:p>
        </p:txBody>
      </p:sp>
      <p:sp>
        <p:nvSpPr>
          <p:cNvPr id="19" name="Text 16"/>
          <p:cNvSpPr txBox="1"/>
          <p:nvPr/>
        </p:nvSpPr>
        <p:spPr>
          <a:xfrm>
            <a:off x="5221224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./workshop-jev</a:t>
            </a:r>
            <a:endParaRPr lang="en-US" sz="1100"/>
          </a:p>
        </p:txBody>
      </p:sp>
      <p:sp>
        <p:nvSpPr>
          <p:cNvPr id="20" name="Text 17"/>
          <p:cNvSpPr txBox="1"/>
          <p:nvPr/>
        </p:nvSpPr>
        <p:spPr>
          <a:xfrm>
            <a:off x="5266944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onde você trabalha</a:t>
            </a:r>
            <a:endParaRPr lang="en-US" sz="1200"/>
          </a:p>
        </p:txBody>
      </p:sp>
      <p:sp>
        <p:nvSpPr>
          <p:cNvPr id="21" name="Text 18"/>
          <p:cNvSpPr txBox="1"/>
          <p:nvPr/>
        </p:nvSpPr>
        <p:spPr>
          <a:xfrm>
            <a:off x="7095744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22" name="Shape 19"/>
          <p:cNvSpPr/>
          <p:nvPr/>
        </p:nvSpPr>
        <p:spPr>
          <a:xfrm>
            <a:off x="7351776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34656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branch</a:t>
            </a:r>
            <a:endParaRPr lang="en-US" sz="1900"/>
          </a:p>
        </p:txBody>
      </p:sp>
      <p:sp>
        <p:nvSpPr>
          <p:cNvPr id="24" name="Text 21"/>
          <p:cNvSpPr txBox="1"/>
          <p:nvPr/>
        </p:nvSpPr>
        <p:spPr>
          <a:xfrm>
            <a:off x="7488936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rubrica-SEU-USUARIO</a:t>
            </a:r>
            <a:endParaRPr lang="en-US" sz="1100"/>
          </a:p>
        </p:txBody>
      </p:sp>
      <p:sp>
        <p:nvSpPr>
          <p:cNvPr id="25" name="Text 22"/>
          <p:cNvSpPr txBox="1"/>
          <p:nvPr/>
        </p:nvSpPr>
        <p:spPr>
          <a:xfrm>
            <a:off x="7534656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nunca commite direto na main</a:t>
            </a:r>
            <a:endParaRPr lang="en-US" sz="1200"/>
          </a:p>
        </p:txBody>
      </p:sp>
      <p:sp>
        <p:nvSpPr>
          <p:cNvPr id="26" name="Text 23"/>
          <p:cNvSpPr txBox="1"/>
          <p:nvPr/>
        </p:nvSpPr>
        <p:spPr>
          <a:xfrm>
            <a:off x="9363456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27" name="Shape 24"/>
          <p:cNvSpPr/>
          <p:nvPr/>
        </p:nvSpPr>
        <p:spPr>
          <a:xfrm>
            <a:off x="9619488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802368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pull request</a:t>
            </a:r>
            <a:endParaRPr lang="en-US" sz="1900"/>
          </a:p>
        </p:txBody>
      </p:sp>
      <p:sp>
        <p:nvSpPr>
          <p:cNvPr id="29" name="Text 26"/>
          <p:cNvSpPr txBox="1"/>
          <p:nvPr/>
        </p:nvSpPr>
        <p:spPr>
          <a:xfrm>
            <a:off x="9756648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de volta para o upstream</a:t>
            </a:r>
            <a:endParaRPr lang="en-US" sz="1100"/>
          </a:p>
        </p:txBody>
      </p:sp>
      <p:sp>
        <p:nvSpPr>
          <p:cNvPr id="30" name="Text 27"/>
          <p:cNvSpPr txBox="1"/>
          <p:nvPr/>
        </p:nvSpPr>
        <p:spPr>
          <a:xfrm>
            <a:off x="9802368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na etapa 7</a:t>
            </a:r>
            <a:endParaRPr lang="en-US" sz="1200"/>
          </a:p>
        </p:txBody>
      </p:sp>
      <p:sp>
        <p:nvSpPr>
          <p:cNvPr id="31" name="Shape 28"/>
          <p:cNvSpPr/>
          <p:nvPr/>
        </p:nvSpPr>
        <p:spPr>
          <a:xfrm>
            <a:off x="548640" y="3977640"/>
            <a:ext cx="6949440" cy="2103120"/>
          </a:xfrm>
          <a:prstGeom prst="roundRect">
            <a:avLst>
              <a:gd name="adj" fmla="val 5217"/>
            </a:avLst>
          </a:prstGeom>
          <a:solidFill>
            <a:srgbClr val="16102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420624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switch -c rubrica-SEU-USUARIO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echo "# Notas de SEU-USUARIO" &gt; NOTAS.md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add NOTAS.md &amp;&amp; git commit -m "Adiciona notas"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push -u origin rubrica-SEU-USUARIO</a:t>
            </a:r>
            <a:endParaRPr lang="en-US" sz="1400"/>
          </a:p>
        </p:txBody>
      </p:sp>
      <p:sp>
        <p:nvSpPr>
          <p:cNvPr id="33" name="Shape 30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01000" y="416052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Primeiro commit “de mentira”</a:t>
            </a:r>
            <a:endParaRPr lang="en-US" sz="1500"/>
          </a:p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treina o ciclo inteiro antes de ter algo valioso a perder. O NOTAS.md vira o corpo do seu PR.</a:t>
            </a:r>
            <a:endParaRPr lang="en-US"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REGRAS DO WORKSHOP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Quatro regras que protegem a turma inteira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21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3600"/>
          </a:p>
        </p:txBody>
      </p:sp>
      <p:sp>
        <p:nvSpPr>
          <p:cNvPr id="9" name="Text 6"/>
          <p:cNvSpPr txBox="1"/>
          <p:nvPr/>
        </p:nvSpPr>
        <p:spPr>
          <a:xfrm>
            <a:off x="1600200" y="205740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chave é compartilhada</a:t>
            </a:r>
            <a:endParaRPr lang="en-US" sz="1900"/>
          </a:p>
        </p:txBody>
      </p:sp>
      <p:sp>
        <p:nvSpPr>
          <p:cNvPr id="10" name="Text 7"/>
          <p:cNvSpPr txBox="1"/>
          <p:nvPr/>
        </p:nvSpPr>
        <p:spPr>
          <a:xfrm>
            <a:off x="1600200" y="256032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Rode sempre sobre sample-mini.jsonl (10 redações). Quem roda as 100 derruba o provedor com 429 para todo mundo.</a:t>
            </a:r>
            <a:endParaRPr lang="en-US" sz="1400"/>
          </a:p>
        </p:txBody>
      </p:sp>
      <p:sp>
        <p:nvSpPr>
          <p:cNvPr id="11" name="Shape 8"/>
          <p:cNvSpPr/>
          <p:nvPr/>
        </p:nvSpPr>
        <p:spPr>
          <a:xfrm>
            <a:off x="6190488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10528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3600"/>
          </a:p>
        </p:txBody>
      </p:sp>
      <p:sp>
        <p:nvSpPr>
          <p:cNvPr id="13" name="Text 10"/>
          <p:cNvSpPr txBox="1"/>
          <p:nvPr/>
        </p:nvSpPr>
        <p:spPr>
          <a:xfrm>
            <a:off x="7242048" y="205740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Nunca commite a chave</a:t>
            </a:r>
            <a:endParaRPr lang="en-US" sz="1900"/>
          </a:p>
        </p:txBody>
      </p:sp>
      <p:sp>
        <p:nvSpPr>
          <p:cNvPr id="14" name="Text 11"/>
          <p:cNvSpPr txBox="1"/>
          <p:nvPr/>
        </p:nvSpPr>
        <p:spPr>
          <a:xfrm>
            <a:off x="7242048" y="256032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Ela vive em .env.local, que está no .gitignore. Fork de repositório público é público, e o histórico é permanente.</a:t>
            </a:r>
            <a:endParaRPr lang="en-US" sz="1400"/>
          </a:p>
        </p:txBody>
      </p:sp>
      <p:sp>
        <p:nvSpPr>
          <p:cNvPr id="15" name="Shape 12"/>
          <p:cNvSpPr/>
          <p:nvPr/>
        </p:nvSpPr>
        <p:spPr>
          <a:xfrm>
            <a:off x="548640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3600"/>
          </a:p>
        </p:txBody>
      </p:sp>
      <p:sp>
        <p:nvSpPr>
          <p:cNvPr id="17" name="Text 14"/>
          <p:cNvSpPr txBox="1"/>
          <p:nvPr/>
        </p:nvSpPr>
        <p:spPr>
          <a:xfrm>
            <a:off x="1600200" y="425196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--cache por rubrica</a:t>
            </a:r>
            <a:endParaRPr lang="en-US" sz="1900"/>
          </a:p>
        </p:txBody>
      </p:sp>
      <p:sp>
        <p:nvSpPr>
          <p:cNvPr id="18" name="Text 15"/>
          <p:cNvSpPr txBox="1"/>
          <p:nvPr/>
        </p:nvSpPr>
        <p:spPr>
          <a:xfrm>
            <a:off x="1600200" y="475488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cache pula o que já foi avaliado. Reusar o arquivo mede a rubrica velha achando que mede a nova.</a:t>
            </a:r>
            <a:endParaRPr lang="en-US" sz="1400"/>
          </a:p>
        </p:txBody>
      </p:sp>
      <p:sp>
        <p:nvSpPr>
          <p:cNvPr id="19" name="Shape 16"/>
          <p:cNvSpPr/>
          <p:nvPr/>
        </p:nvSpPr>
        <p:spPr>
          <a:xfrm>
            <a:off x="6190488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10528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3600"/>
          </a:p>
        </p:txBody>
      </p:sp>
      <p:sp>
        <p:nvSpPr>
          <p:cNvPr id="21" name="Text 18"/>
          <p:cNvSpPr txBox="1"/>
          <p:nvPr/>
        </p:nvSpPr>
        <p:spPr>
          <a:xfrm>
            <a:off x="7242048" y="425196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evaluate.py por cache</a:t>
            </a:r>
            <a:endParaRPr lang="en-US" sz="1900"/>
          </a:p>
        </p:txBody>
      </p:sp>
      <p:sp>
        <p:nvSpPr>
          <p:cNvPr id="22" name="Text 19"/>
          <p:cNvSpPr txBox="1"/>
          <p:nvPr/>
        </p:nvSpPr>
        <p:spPr>
          <a:xfrm>
            <a:off x="7242048" y="475488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Dois processos no mesmo --cache duplicam registros, e o compare.py não deduplica.</a:t>
            </a:r>
            <a:endParaRPr lang="en-US" sz="14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3 · 25 MIN · USA A API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primeira chamada: olhe antes de pagar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22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700"/>
          </a:p>
        </p:txBody>
      </p:sp>
      <p:sp>
        <p:nvSpPr>
          <p:cNvPr id="9" name="Text 6"/>
          <p:cNvSpPr txBox="1"/>
          <p:nvPr/>
        </p:nvSpPr>
        <p:spPr>
          <a:xfrm>
            <a:off x="1280160" y="1737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Ver a requisição, sem gastar nada</a:t>
            </a:r>
            <a:endParaRPr lang="en-US" sz="1600"/>
          </a:p>
        </p:txBody>
      </p:sp>
      <p:sp>
        <p:nvSpPr>
          <p:cNvPr id="10" name="Text 7"/>
          <p:cNvSpPr txBox="1"/>
          <p:nvPr/>
        </p:nvSpPr>
        <p:spPr>
          <a:xfrm>
            <a:off x="1280160" y="213055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python3 evaluate.py --dry-run --sample sample-mini.jsonl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548640" y="2770632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FFC31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770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700"/>
          </a:p>
        </p:txBody>
      </p:sp>
      <p:sp>
        <p:nvSpPr>
          <p:cNvPr id="13" name="Text 10"/>
          <p:cNvSpPr txBox="1"/>
          <p:nvPr/>
        </p:nvSpPr>
        <p:spPr>
          <a:xfrm>
            <a:off x="1280160" y="281635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Uma redação, com a resposta crua em debug/</a:t>
            </a:r>
            <a:endParaRPr lang="en-US" sz="1600"/>
          </a:p>
        </p:txBody>
      </p:sp>
      <p:sp>
        <p:nvSpPr>
          <p:cNvPr id="14" name="Text 11"/>
          <p:cNvSpPr txBox="1"/>
          <p:nvPr/>
        </p:nvSpPr>
        <p:spPr>
          <a:xfrm>
            <a:off x="1280160" y="320954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python3 evaluate.py --sample sample-mini.jsonl --limit 1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  --verbose --cache resultados-meus.jsonl</a:t>
            </a:r>
            <a:endParaRPr lang="en-US" sz="1200"/>
          </a:p>
        </p:txBody>
      </p:sp>
      <p:sp>
        <p:nvSpPr>
          <p:cNvPr id="15" name="Shape 12"/>
          <p:cNvSpPr/>
          <p:nvPr/>
        </p:nvSpPr>
        <p:spPr>
          <a:xfrm>
            <a:off x="548640" y="3849624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FFC3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9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700"/>
          </a:p>
        </p:txBody>
      </p:sp>
      <p:sp>
        <p:nvSpPr>
          <p:cNvPr id="17" name="Text 14"/>
          <p:cNvSpPr txBox="1"/>
          <p:nvPr/>
        </p:nvSpPr>
        <p:spPr>
          <a:xfrm>
            <a:off x="1280160" y="389534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Mais duas — e ver o cache trabalhar</a:t>
            </a:r>
            <a:endParaRPr lang="en-US" sz="1600"/>
          </a:p>
        </p:txBody>
      </p:sp>
      <p:sp>
        <p:nvSpPr>
          <p:cNvPr id="18" name="Text 15"/>
          <p:cNvSpPr txBox="1"/>
          <p:nvPr/>
        </p:nvSpPr>
        <p:spPr>
          <a:xfrm>
            <a:off x="1280160" y="428853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python3 evaluate.py --sample sample-mini.jsonl --limit 3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  --cache resultados-meus.jsonl</a:t>
            </a:r>
            <a:endParaRPr lang="en-US" sz="1200"/>
          </a:p>
        </p:txBody>
      </p:sp>
      <p:sp>
        <p:nvSpPr>
          <p:cNvPr id="19" name="Text 16"/>
          <p:cNvSpPr txBox="1"/>
          <p:nvPr/>
        </p:nvSpPr>
        <p:spPr>
          <a:xfrm>
            <a:off x="7315200" y="1691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Saída esperada</a:t>
            </a:r>
            <a:endParaRPr lang="en-US" sz="1400"/>
          </a:p>
        </p:txBody>
      </p:sp>
      <p:sp>
        <p:nvSpPr>
          <p:cNvPr id="20" name="Shape 17"/>
          <p:cNvSpPr/>
          <p:nvPr/>
        </p:nvSpPr>
        <p:spPr>
          <a:xfrm>
            <a:off x="7315200" y="2057400"/>
            <a:ext cx="4325112" cy="1874520"/>
          </a:xfrm>
          <a:prstGeom prst="roundRect">
            <a:avLst>
              <a:gd name="adj" fmla="val 5854"/>
            </a:avLst>
          </a:prstGeom>
          <a:solidFill>
            <a:srgbClr val="1610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589520" y="2286000"/>
            <a:ext cx="37764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7BE0A0"/>
                </a:solidFill>
                <a:latin typeface="DejaVu Sans Mono"/>
                <a:ea typeface="DejaVu Sans Mono"/>
                <a:cs typeface="DejaVu Sans Mono"/>
              </a:rPr>
              <a:t>[ok]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idx=633 gold=</a:t>
            </a: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jev=</a:t>
            </a: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440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[pulado]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idx=633 ja em cache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7BE0A0"/>
                </a:solidFill>
                <a:latin typeface="DejaVu Sans Mono"/>
                <a:ea typeface="DejaVu Sans Mono"/>
                <a:cs typeface="DejaVu Sans Mono"/>
              </a:rPr>
              <a:t>[ok]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idx=597 gold=280 jev=400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7BE0A0"/>
                </a:solidFill>
                <a:latin typeface="DejaVu Sans Mono"/>
                <a:ea typeface="DejaVu Sans Mono"/>
                <a:cs typeface="DejaVu Sans Mono"/>
              </a:rPr>
              <a:t>[ok]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idx=86  gold=400 jev=440</a:t>
            </a:r>
            <a:endParaRPr lang="en-US" sz="1300"/>
          </a:p>
        </p:txBody>
      </p:sp>
      <p:sp>
        <p:nvSpPr>
          <p:cNvPr id="22" name="Shape 19"/>
          <p:cNvSpPr/>
          <p:nvPr/>
        </p:nvSpPr>
        <p:spPr>
          <a:xfrm>
            <a:off x="7315200" y="4114800"/>
            <a:ext cx="4325112" cy="1965960"/>
          </a:xfrm>
          <a:prstGeom prst="roundRect">
            <a:avLst>
              <a:gd name="adj" fmla="val 651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89520" y="429768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Guarde esta dissonância: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uma redação que o humano zerou recebeu 440 do modelo. A etapa 5 explica — e não é bug.</a:t>
            </a:r>
            <a:endParaRPr lang="en-US" sz="1500"/>
          </a:p>
        </p:txBody>
      </p:sp>
      <p:sp>
        <p:nvSpPr>
          <p:cNvPr id="24" name="Shape 21"/>
          <p:cNvSpPr/>
          <p:nvPr/>
        </p:nvSpPr>
        <p:spPr>
          <a:xfrm>
            <a:off x="548640" y="5074920"/>
            <a:ext cx="64465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0749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Armadilha: 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errar o nome do --cache não dá erro — cria um arquivo novo e cobra tudo de novo. Confira com ls -la *.jsonl.</a:t>
            </a:r>
            <a:endParaRPr lang="en-US" sz="14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4 · 20 MIN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Pergunta para a turma, antes de explicar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23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766560" cy="4389120"/>
          </a:xfrm>
          <a:prstGeom prst="roundRect">
            <a:avLst>
              <a:gd name="adj" fmla="val 291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9202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Qual nível o modelo escolheu?</a:t>
            </a:r>
            <a:endParaRPr lang="en-US" sz="2400"/>
          </a:p>
        </p:txBody>
      </p:sp>
      <p:sp>
        <p:nvSpPr>
          <p:cNvPr id="9" name="Shape 6"/>
          <p:cNvSpPr/>
          <p:nvPr/>
        </p:nvSpPr>
        <p:spPr>
          <a:xfrm>
            <a:off x="960120" y="2651760"/>
            <a:ext cx="5943600" cy="2423160"/>
          </a:xfrm>
          <a:prstGeom prst="roundRect">
            <a:avLst>
              <a:gd name="adj" fmla="val 4528"/>
            </a:avLst>
          </a:prstGeom>
          <a:solidFill>
            <a:srgbClr val="1610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34440" y="2880360"/>
            <a:ext cx="5394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score: </a:t>
            </a:r>
            <a:r>
              <a:rPr lang="en-US" sz="2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0.51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probabilities: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0: </a:t>
            </a:r>
            <a:r>
              <a:rPr lang="en-US" sz="2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0.50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1: </a:t>
            </a:r>
            <a:r>
              <a:rPr lang="en-US" sz="2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0.49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2: </a:t>
            </a:r>
            <a:r>
              <a:rPr lang="en-US" sz="2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0.01</a:t>
            </a:r>
            <a:endParaRPr lang="en-US" sz="2000"/>
          </a:p>
        </p:txBody>
      </p:sp>
      <p:sp>
        <p:nvSpPr>
          <p:cNvPr id="11" name="Text 8"/>
          <p:cNvSpPr txBox="1"/>
          <p:nvPr/>
        </p:nvSpPr>
        <p:spPr>
          <a:xfrm>
            <a:off x="960120" y="5303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Deixe alguém dizer “uns 20 pontos”.</a:t>
            </a:r>
            <a:endParaRPr lang="en-US" sz="1500"/>
          </a:p>
        </p:txBody>
      </p:sp>
      <p:sp>
        <p:nvSpPr>
          <p:cNvPr id="12" name="Text 9"/>
          <p:cNvSpPr txBox="1"/>
          <p:nvPr/>
        </p:nvSpPr>
        <p:spPr>
          <a:xfrm>
            <a:off x="7635240" y="169164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Exercício: a terceira leitura</a:t>
            </a:r>
            <a:endParaRPr lang="en-US" sz="1700"/>
          </a:p>
        </p:txBody>
      </p:sp>
      <p:sp>
        <p:nvSpPr>
          <p:cNvPr id="13" name="Text 10"/>
          <p:cNvSpPr txBox="1"/>
          <p:nvPr/>
        </p:nvSpPr>
        <p:spPr>
          <a:xfrm>
            <a:off x="7635240" y="2148840"/>
            <a:ext cx="4005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Quantas das 500 decisões do cache estão praticamente empatadas — as duas âncoras mais prováveis a menos de 0,05 uma da outra?</a:t>
            </a:r>
            <a:endParaRPr lang="en-US" sz="1500"/>
          </a:p>
        </p:txBody>
      </p:sp>
      <p:sp>
        <p:nvSpPr>
          <p:cNvPr id="14" name="Shape 11"/>
          <p:cNvSpPr/>
          <p:nvPr/>
        </p:nvSpPr>
        <p:spPr>
          <a:xfrm>
            <a:off x="7635240" y="3931920"/>
            <a:ext cx="4005072" cy="2148840"/>
          </a:xfrm>
          <a:prstGeom prst="roundRect">
            <a:avLst>
              <a:gd name="adj" fmla="val 595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93192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Esse número é o argumento mais forte a favor de uma fila de revisão humana.</a:t>
            </a:r>
            <a:endParaRPr lang="en-US" sz="17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35 MIN · OFFLINE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Primeiro, a baseline burra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24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6400800" cy="1645920"/>
          </a:xfrm>
          <a:prstGeom prst="roundRect">
            <a:avLst>
              <a:gd name="adj" fmla="val 6667"/>
            </a:avLst>
          </a:prstGeom>
          <a:solidFill>
            <a:srgbClr val="1610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0116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3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def </a:t>
            </a:r>
            <a:r>
              <a:rPr lang="en-US" sz="300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corrigir</a:t>
            </a:r>
            <a:r>
              <a:rPr lang="en-US" sz="3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(redacao):</a:t>
            </a:r>
            <a:endParaRPr lang="en-US" sz="3000"/>
          </a:p>
          <a:p>
            <a:pPr marL="0" indent="0">
              <a:lnSpc>
                <a:spcPct val="115000"/>
              </a:lnSpc>
              <a:buNone/>
            </a:pPr>
            <a:r>
              <a:rPr lang="en-US" sz="3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    return </a:t>
            </a:r>
            <a:r>
              <a:rPr lang="en-US" sz="3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600</a:t>
            </a:r>
            <a:endParaRPr lang="en-US" sz="3000"/>
          </a:p>
        </p:txBody>
      </p:sp>
      <p:sp>
        <p:nvSpPr>
          <p:cNvPr id="9" name="Text 6"/>
          <p:cNvSpPr txBox="1"/>
          <p:nvPr/>
        </p:nvSpPr>
        <p:spPr>
          <a:xfrm>
            <a:off x="548640" y="36118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Não olha a redação. Chuta sempre a nota mais frequente do corpus.</a:t>
            </a:r>
            <a:endParaRPr lang="en-US" sz="1600"/>
          </a:p>
        </p:txBody>
      </p:sp>
      <p:sp>
        <p:nvSpPr>
          <p:cNvPr id="10" name="Shape 7"/>
          <p:cNvSpPr/>
          <p:nvPr/>
        </p:nvSpPr>
        <p:spPr>
          <a:xfrm>
            <a:off x="548640" y="4251960"/>
            <a:ext cx="3108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5%</a:t>
            </a:r>
            <a:endParaRPr lang="en-US" sz="4800"/>
          </a:p>
        </p:txBody>
      </p:sp>
      <p:sp>
        <p:nvSpPr>
          <p:cNvPr id="12" name="Text 9"/>
          <p:cNvSpPr txBox="1"/>
          <p:nvPr/>
        </p:nvSpPr>
        <p:spPr>
          <a:xfrm>
            <a:off x="822960" y="5349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 acerto exato</a:t>
            </a:r>
            <a:endParaRPr lang="en-US" sz="1500"/>
          </a:p>
        </p:txBody>
      </p:sp>
      <p:sp>
        <p:nvSpPr>
          <p:cNvPr id="13" name="Shape 10"/>
          <p:cNvSpPr/>
          <p:nvPr/>
        </p:nvSpPr>
        <p:spPr>
          <a:xfrm>
            <a:off x="3840480" y="4251960"/>
            <a:ext cx="3108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+9</a:t>
            </a:r>
            <a:endParaRPr lang="en-US" sz="4800"/>
          </a:p>
        </p:txBody>
      </p:sp>
      <p:sp>
        <p:nvSpPr>
          <p:cNvPr id="15" name="Text 12"/>
          <p:cNvSpPr txBox="1"/>
          <p:nvPr/>
        </p:nvSpPr>
        <p:spPr>
          <a:xfrm>
            <a:off x="4114800" y="5349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pontos de viés</a:t>
            </a:r>
            <a:endParaRPr lang="en-US" sz="1500"/>
          </a:p>
        </p:txBody>
      </p:sp>
      <p:sp>
        <p:nvSpPr>
          <p:cNvPr id="16" name="Shape 13"/>
          <p:cNvSpPr/>
          <p:nvPr/>
        </p:nvSpPr>
        <p:spPr>
          <a:xfrm>
            <a:off x="7315200" y="1783080"/>
            <a:ext cx="4325112" cy="4297680"/>
          </a:xfrm>
          <a:prstGeom prst="roundRect">
            <a:avLst>
              <a:gd name="adj" fmla="val 2979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2103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Parece bom?</a:t>
            </a:r>
            <a:endParaRPr lang="en-US" sz="3200"/>
          </a:p>
        </p:txBody>
      </p:sp>
      <p:sp>
        <p:nvSpPr>
          <p:cNvPr id="18" name="Text 15"/>
          <p:cNvSpPr txBox="1"/>
          <p:nvPr/>
        </p:nvSpPr>
        <p:spPr>
          <a:xfrm>
            <a:off x="7635240" y="30175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 alguém te mostrasse só “5% de acerto exato e viés de 9 pontos”, soaria razoável.</a:t>
            </a:r>
            <a:endParaRPr lang="en-US" sz="1700"/>
          </a:p>
        </p:txBody>
      </p:sp>
      <p:sp>
        <p:nvSpPr>
          <p:cNvPr id="19" name="Text 16"/>
          <p:cNvSpPr txBox="1"/>
          <p:nvPr/>
        </p:nvSpPr>
        <p:spPr>
          <a:xfrm>
            <a:off x="7635240" y="48463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Agora a pergunta: o Jev bate isso?</a:t>
            </a:r>
            <a:endParaRPr lang="en-US" sz="17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O VEREDITO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Jev bate a baseline em QWK e MAE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25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2560320" y="173736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56032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Jev</a:t>
            </a:r>
            <a:endParaRPr lang="en-US" sz="1700"/>
          </a:p>
        </p:txBody>
      </p:sp>
      <p:sp>
        <p:nvSpPr>
          <p:cNvPr id="9" name="Text 6"/>
          <p:cNvSpPr txBox="1"/>
          <p:nvPr/>
        </p:nvSpPr>
        <p:spPr>
          <a:xfrm>
            <a:off x="480060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Chutar 600</a:t>
            </a:r>
            <a:endParaRPr lang="en-US" sz="1700"/>
          </a:p>
        </p:txBody>
      </p:sp>
      <p:sp>
        <p:nvSpPr>
          <p:cNvPr id="10" name="Shape 7"/>
          <p:cNvSpPr/>
          <p:nvPr/>
        </p:nvSpPr>
        <p:spPr>
          <a:xfrm>
            <a:off x="548640" y="2377440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QWK</a:t>
            </a:r>
            <a:endParaRPr lang="en-US" sz="1700"/>
          </a:p>
        </p:txBody>
      </p:sp>
      <p:sp>
        <p:nvSpPr>
          <p:cNvPr id="12" name="Text 9"/>
          <p:cNvSpPr txBox="1"/>
          <p:nvPr/>
        </p:nvSpPr>
        <p:spPr>
          <a:xfrm>
            <a:off x="256032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0,495</a:t>
            </a:r>
            <a:endParaRPr lang="en-US" sz="2800"/>
          </a:p>
        </p:txBody>
      </p:sp>
      <p:sp>
        <p:nvSpPr>
          <p:cNvPr id="13" name="Text 10"/>
          <p:cNvSpPr txBox="1"/>
          <p:nvPr/>
        </p:nvSpPr>
        <p:spPr>
          <a:xfrm>
            <a:off x="480060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0,000</a:t>
            </a:r>
            <a:endParaRPr lang="en-US" sz="2800"/>
          </a:p>
        </p:txBody>
      </p:sp>
      <p:sp>
        <p:nvSpPr>
          <p:cNvPr id="14" name="Shape 11"/>
          <p:cNvSpPr/>
          <p:nvPr/>
        </p:nvSpPr>
        <p:spPr>
          <a:xfrm>
            <a:off x="548640" y="3218688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186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MAE</a:t>
            </a:r>
            <a:endParaRPr lang="en-US" sz="1700"/>
          </a:p>
        </p:txBody>
      </p:sp>
      <p:sp>
        <p:nvSpPr>
          <p:cNvPr id="16" name="Text 13"/>
          <p:cNvSpPr txBox="1"/>
          <p:nvPr/>
        </p:nvSpPr>
        <p:spPr>
          <a:xfrm>
            <a:off x="2560320" y="321868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160</a:t>
            </a:r>
            <a:endParaRPr lang="en-US" sz="2800"/>
          </a:p>
        </p:txBody>
      </p:sp>
      <p:sp>
        <p:nvSpPr>
          <p:cNvPr id="17" name="Text 14"/>
          <p:cNvSpPr txBox="1"/>
          <p:nvPr/>
        </p:nvSpPr>
        <p:spPr>
          <a:xfrm>
            <a:off x="4800600" y="321868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213</a:t>
            </a:r>
            <a:endParaRPr lang="en-US" sz="2800"/>
          </a:p>
        </p:txBody>
      </p:sp>
      <p:sp>
        <p:nvSpPr>
          <p:cNvPr id="18" name="Shape 15"/>
          <p:cNvSpPr/>
          <p:nvPr/>
        </p:nvSpPr>
        <p:spPr>
          <a:xfrm>
            <a:off x="548640" y="4059936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059936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adjacente</a:t>
            </a:r>
            <a:endParaRPr lang="en-US" sz="1700"/>
          </a:p>
        </p:txBody>
      </p:sp>
      <p:sp>
        <p:nvSpPr>
          <p:cNvPr id="20" name="Text 17"/>
          <p:cNvSpPr txBox="1"/>
          <p:nvPr/>
        </p:nvSpPr>
        <p:spPr>
          <a:xfrm>
            <a:off x="2560320" y="405993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25%</a:t>
            </a:r>
            <a:endParaRPr lang="en-US" sz="2800"/>
          </a:p>
        </p:txBody>
      </p:sp>
      <p:sp>
        <p:nvSpPr>
          <p:cNvPr id="21" name="Text 18"/>
          <p:cNvSpPr txBox="1"/>
          <p:nvPr/>
        </p:nvSpPr>
        <p:spPr>
          <a:xfrm>
            <a:off x="4800600" y="405993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15%</a:t>
            </a:r>
            <a:endParaRPr lang="en-US" sz="2800"/>
          </a:p>
        </p:txBody>
      </p:sp>
      <p:sp>
        <p:nvSpPr>
          <p:cNvPr id="22" name="Shape 19"/>
          <p:cNvSpPr/>
          <p:nvPr/>
        </p:nvSpPr>
        <p:spPr>
          <a:xfrm>
            <a:off x="548640" y="4901184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901184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exata</a:t>
            </a:r>
            <a:endParaRPr lang="en-US" sz="1700"/>
          </a:p>
        </p:txBody>
      </p:sp>
      <p:sp>
        <p:nvSpPr>
          <p:cNvPr id="24" name="Text 21"/>
          <p:cNvSpPr txBox="1"/>
          <p:nvPr/>
        </p:nvSpPr>
        <p:spPr>
          <a:xfrm>
            <a:off x="2560320" y="490118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5%</a:t>
            </a:r>
            <a:endParaRPr lang="en-US" sz="2800"/>
          </a:p>
        </p:txBody>
      </p:sp>
      <p:sp>
        <p:nvSpPr>
          <p:cNvPr id="25" name="Text 22"/>
          <p:cNvSpPr txBox="1"/>
          <p:nvPr/>
        </p:nvSpPr>
        <p:spPr>
          <a:xfrm>
            <a:off x="4800600" y="490118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5%</a:t>
            </a:r>
            <a:endParaRPr lang="en-US" sz="2800"/>
          </a:p>
        </p:txBody>
      </p:sp>
      <p:sp>
        <p:nvSpPr>
          <p:cNvPr id="26" name="Shape 23"/>
          <p:cNvSpPr/>
          <p:nvPr/>
        </p:nvSpPr>
        <p:spPr>
          <a:xfrm>
            <a:off x="7315200" y="1737360"/>
            <a:ext cx="4325112" cy="2148840"/>
          </a:xfrm>
          <a:prstGeom prst="roundRect">
            <a:avLst>
              <a:gd name="adj" fmla="val 595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89520" y="1874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r = 0,71</a:t>
            </a:r>
            <a:endParaRPr lang="en-US" sz="3400"/>
          </a:p>
        </p:txBody>
      </p:sp>
      <p:sp>
        <p:nvSpPr>
          <p:cNvPr id="28" name="Text 25"/>
          <p:cNvSpPr txBox="1"/>
          <p:nvPr/>
        </p:nvSpPr>
        <p:spPr>
          <a:xfrm>
            <a:off x="7589520" y="26060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Ele sabe distinguir redação ruim de redação boa. Ordena melhor do que pontua.</a:t>
            </a:r>
            <a:endParaRPr lang="en-US" sz="1500"/>
          </a:p>
        </p:txBody>
      </p:sp>
      <p:sp>
        <p:nvSpPr>
          <p:cNvPr id="29" name="Shape 26"/>
          <p:cNvSpPr/>
          <p:nvPr/>
        </p:nvSpPr>
        <p:spPr>
          <a:xfrm>
            <a:off x="7315200" y="4069080"/>
            <a:ext cx="4325112" cy="2011680"/>
          </a:xfrm>
          <a:prstGeom prst="roundRect">
            <a:avLst>
              <a:gd name="adj" fmla="val 6364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42062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Serve como ranqueador.</a:t>
            </a:r>
            <a:endParaRPr lang="en-US" sz="1500"/>
          </a:p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“Ordene estas 300 redações para o professor começar pelas piores.” Ainda não serve para dar nota oficial.</a:t>
            </a:r>
            <a:endParaRPr lang="en-US" sz="15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VIÉS POR COMPETÊNCIA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Severo com gramática, generoso com conteúdo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26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14800" y="1874520"/>
            <a:ext cx="0" cy="402336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11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C1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escrita formal</a:t>
            </a:r>
            <a:endParaRPr lang="en-US" sz="1300"/>
          </a:p>
        </p:txBody>
      </p:sp>
      <p:sp>
        <p:nvSpPr>
          <p:cNvPr id="10" name="Shape 7"/>
          <p:cNvSpPr/>
          <p:nvPr/>
        </p:nvSpPr>
        <p:spPr>
          <a:xfrm>
            <a:off x="2942173" y="2084832"/>
            <a:ext cx="1172627" cy="36576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06240" y="201168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−22,9</a:t>
            </a:r>
            <a:endParaRPr lang="en-US" sz="1400"/>
          </a:p>
        </p:txBody>
      </p:sp>
      <p:sp>
        <p:nvSpPr>
          <p:cNvPr id="12" name="Text 9"/>
          <p:cNvSpPr txBox="1"/>
          <p:nvPr/>
        </p:nvSpPr>
        <p:spPr>
          <a:xfrm>
            <a:off x="777240" y="2788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C2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tema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4114800" y="2862072"/>
            <a:ext cx="742493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48733" y="278892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+14,5</a:t>
            </a:r>
            <a:endParaRPr lang="en-US" sz="1400"/>
          </a:p>
        </p:txBody>
      </p:sp>
      <p:sp>
        <p:nvSpPr>
          <p:cNvPr id="15" name="Text 12"/>
          <p:cNvSpPr txBox="1"/>
          <p:nvPr/>
        </p:nvSpPr>
        <p:spPr>
          <a:xfrm>
            <a:off x="777240" y="3566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C3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argumentação</a:t>
            </a:r>
            <a:endParaRPr lang="en-US" sz="1300"/>
          </a:p>
        </p:txBody>
      </p:sp>
      <p:sp>
        <p:nvSpPr>
          <p:cNvPr id="16" name="Shape 13"/>
          <p:cNvSpPr/>
          <p:nvPr/>
        </p:nvSpPr>
        <p:spPr>
          <a:xfrm>
            <a:off x="4114800" y="3639312"/>
            <a:ext cx="2278685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4925" y="356616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+44,5</a:t>
            </a:r>
            <a:endParaRPr lang="en-US" sz="1400"/>
          </a:p>
        </p:txBody>
      </p:sp>
      <p:sp>
        <p:nvSpPr>
          <p:cNvPr id="18" name="Text 15"/>
          <p:cNvSpPr txBox="1"/>
          <p:nvPr/>
        </p:nvSpPr>
        <p:spPr>
          <a:xfrm>
            <a:off x="777240" y="4343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C4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coesão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4114800" y="4416552"/>
            <a:ext cx="711769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18009" y="43434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+13,9</a:t>
            </a:r>
            <a:endParaRPr lang="en-US" sz="1400"/>
          </a:p>
        </p:txBody>
      </p:sp>
      <p:sp>
        <p:nvSpPr>
          <p:cNvPr id="21" name="Text 18"/>
          <p:cNvSpPr txBox="1"/>
          <p:nvPr/>
        </p:nvSpPr>
        <p:spPr>
          <a:xfrm>
            <a:off x="777240" y="51206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C5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proposta</a:t>
            </a:r>
            <a:endParaRPr lang="en-US" sz="1300"/>
          </a:p>
        </p:txBody>
      </p:sp>
      <p:sp>
        <p:nvSpPr>
          <p:cNvPr id="22" name="Shape 19"/>
          <p:cNvSpPr/>
          <p:nvPr/>
        </p:nvSpPr>
        <p:spPr>
          <a:xfrm>
            <a:off x="4114800" y="5193792"/>
            <a:ext cx="1633484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839724" y="512064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+31,9</a:t>
            </a:r>
            <a:endParaRPr lang="en-US" sz="1400"/>
          </a:p>
        </p:txBody>
      </p:sp>
      <p:sp>
        <p:nvSpPr>
          <p:cNvPr id="24" name="Text 21"/>
          <p:cNvSpPr txBox="1"/>
          <p:nvPr/>
        </p:nvSpPr>
        <p:spPr>
          <a:xfrm>
            <a:off x="3200400" y="5760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pontos (média Jev − humano)</a:t>
            </a:r>
            <a:endParaRPr lang="en-US" sz="1100"/>
          </a:p>
        </p:txBody>
      </p:sp>
      <p:sp>
        <p:nvSpPr>
          <p:cNvPr id="25" name="Shape 22"/>
          <p:cNvSpPr/>
          <p:nvPr/>
        </p:nvSpPr>
        <p:spPr>
          <a:xfrm>
            <a:off x="7726680" y="1691640"/>
            <a:ext cx="3913632" cy="2057400"/>
          </a:xfrm>
          <a:prstGeom prst="roundRect">
            <a:avLst>
              <a:gd name="adj" fmla="val 622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01000" y="18745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Erro de concordância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é objetivo e visível. </a:t>
            </a: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“O argumento é bom?”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é julgamento — e, na dúvida, ele é gentil.</a:t>
            </a:r>
            <a:endParaRPr lang="en-US" sz="1500"/>
          </a:p>
        </p:txBody>
      </p:sp>
      <p:sp>
        <p:nvSpPr>
          <p:cNvPr id="27" name="Shape 24"/>
          <p:cNvSpPr/>
          <p:nvPr/>
        </p:nvSpPr>
        <p:spPr>
          <a:xfrm>
            <a:off x="7726680" y="3931920"/>
            <a:ext cx="3913632" cy="2148840"/>
          </a:xfrm>
          <a:prstGeom prst="roundRect">
            <a:avLst>
              <a:gd name="adj" fmla="val 595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01000" y="411480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Viés aponta para a rubrica, </a:t>
            </a: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não para o modelo. Subtrair o viés médio quase dobra o QWK de C3 (0,18 → 0,35) — o conserto honesto é reescrever as âncoras.</a:t>
            </a:r>
            <a:endParaRPr lang="en-US" sz="14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LIMIAR DE CONFIANÇA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palpite de 0,60 é pior que não filtrar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27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 do que fica automatizado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960120" y="3159252"/>
            <a:ext cx="853440" cy="159562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2848356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0,349</a:t>
            </a:r>
            <a:endParaRPr lang="en-US" sz="1400"/>
          </a:p>
        </p:txBody>
      </p:sp>
      <p:sp>
        <p:nvSpPr>
          <p:cNvPr id="11" name="Text 8"/>
          <p:cNvSpPr txBox="1"/>
          <p:nvPr/>
        </p:nvSpPr>
        <p:spPr>
          <a:xfrm>
            <a:off x="777240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0,00</a:t>
            </a:r>
            <a:endParaRPr lang="en-US" sz="1100"/>
          </a:p>
        </p:txBody>
      </p:sp>
      <p:sp>
        <p:nvSpPr>
          <p:cNvPr id="12" name="Shape 9"/>
          <p:cNvSpPr/>
          <p:nvPr/>
        </p:nvSpPr>
        <p:spPr>
          <a:xfrm>
            <a:off x="2014728" y="3154680"/>
            <a:ext cx="853440" cy="160020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831848" y="284378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0,350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1831848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0,50</a:t>
            </a:r>
            <a:endParaRPr lang="en-US" sz="1100"/>
          </a:p>
        </p:txBody>
      </p:sp>
      <p:sp>
        <p:nvSpPr>
          <p:cNvPr id="15" name="Shape 12"/>
          <p:cNvSpPr/>
          <p:nvPr/>
        </p:nvSpPr>
        <p:spPr>
          <a:xfrm>
            <a:off x="3069336" y="3223260"/>
            <a:ext cx="853440" cy="153162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6456" y="291236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0,335</a:t>
            </a:r>
            <a:endParaRPr lang="en-US" sz="1400"/>
          </a:p>
        </p:txBody>
      </p:sp>
      <p:sp>
        <p:nvSpPr>
          <p:cNvPr id="17" name="Text 14"/>
          <p:cNvSpPr txBox="1"/>
          <p:nvPr/>
        </p:nvSpPr>
        <p:spPr>
          <a:xfrm>
            <a:off x="2886456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0,60</a:t>
            </a:r>
            <a:endParaRPr lang="en-US" sz="1100"/>
          </a:p>
        </p:txBody>
      </p:sp>
      <p:sp>
        <p:nvSpPr>
          <p:cNvPr id="18" name="Shape 15"/>
          <p:cNvSpPr/>
          <p:nvPr/>
        </p:nvSpPr>
        <p:spPr>
          <a:xfrm>
            <a:off x="4123944" y="3154680"/>
            <a:ext cx="853440" cy="160020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941064" y="284378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0,350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3941064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0,65</a:t>
            </a:r>
            <a:endParaRPr lang="en-US" sz="1100"/>
          </a:p>
        </p:txBody>
      </p:sp>
      <p:sp>
        <p:nvSpPr>
          <p:cNvPr id="21" name="Shape 18"/>
          <p:cNvSpPr/>
          <p:nvPr/>
        </p:nvSpPr>
        <p:spPr>
          <a:xfrm>
            <a:off x="5178552" y="2807208"/>
            <a:ext cx="853440" cy="1947672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995672" y="2496312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0,426</a:t>
            </a:r>
            <a:endParaRPr lang="en-US" sz="1400"/>
          </a:p>
        </p:txBody>
      </p:sp>
      <p:sp>
        <p:nvSpPr>
          <p:cNvPr id="23" name="Text 20"/>
          <p:cNvSpPr txBox="1"/>
          <p:nvPr/>
        </p:nvSpPr>
        <p:spPr>
          <a:xfrm>
            <a:off x="4995672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0,70</a:t>
            </a:r>
            <a:endParaRPr lang="en-US" sz="1100"/>
          </a:p>
        </p:txBody>
      </p:sp>
      <p:sp>
        <p:nvSpPr>
          <p:cNvPr id="24" name="Shape 21"/>
          <p:cNvSpPr/>
          <p:nvPr/>
        </p:nvSpPr>
        <p:spPr>
          <a:xfrm>
            <a:off x="6233160" y="2674620"/>
            <a:ext cx="853440" cy="20802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50280" y="236372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0,455</a:t>
            </a:r>
            <a:endParaRPr lang="en-US" sz="1400"/>
          </a:p>
        </p:txBody>
      </p:sp>
      <p:sp>
        <p:nvSpPr>
          <p:cNvPr id="26" name="Text 23"/>
          <p:cNvSpPr txBox="1"/>
          <p:nvPr/>
        </p:nvSpPr>
        <p:spPr>
          <a:xfrm>
            <a:off x="6050280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0,80</a:t>
            </a:r>
            <a:endParaRPr lang="en-US" sz="1100"/>
          </a:p>
        </p:txBody>
      </p:sp>
      <p:sp>
        <p:nvSpPr>
          <p:cNvPr id="27" name="Shape 24"/>
          <p:cNvSpPr/>
          <p:nvPr/>
        </p:nvSpPr>
        <p:spPr>
          <a:xfrm>
            <a:off x="960120" y="4754880"/>
            <a:ext cx="612648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100% auto</a:t>
            </a:r>
            <a:endParaRPr lang="en-US" sz="1100"/>
          </a:p>
        </p:txBody>
      </p:sp>
      <p:sp>
        <p:nvSpPr>
          <p:cNvPr id="29" name="Text 26"/>
          <p:cNvSpPr txBox="1"/>
          <p:nvPr/>
        </p:nvSpPr>
        <p:spPr>
          <a:xfrm>
            <a:off x="1831848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96% auto</a:t>
            </a:r>
            <a:endParaRPr lang="en-US" sz="1100"/>
          </a:p>
        </p:txBody>
      </p:sp>
      <p:sp>
        <p:nvSpPr>
          <p:cNvPr id="30" name="Text 27"/>
          <p:cNvSpPr txBox="1"/>
          <p:nvPr/>
        </p:nvSpPr>
        <p:spPr>
          <a:xfrm>
            <a:off x="2886456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89% auto</a:t>
            </a:r>
            <a:endParaRPr lang="en-US" sz="1100"/>
          </a:p>
        </p:txBody>
      </p:sp>
      <p:sp>
        <p:nvSpPr>
          <p:cNvPr id="31" name="Text 28"/>
          <p:cNvSpPr txBox="1"/>
          <p:nvPr/>
        </p:nvSpPr>
        <p:spPr>
          <a:xfrm>
            <a:off x="3941064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78% auto</a:t>
            </a:r>
            <a:endParaRPr lang="en-US" sz="1100"/>
          </a:p>
        </p:txBody>
      </p:sp>
      <p:sp>
        <p:nvSpPr>
          <p:cNvPr id="32" name="Text 29"/>
          <p:cNvSpPr txBox="1"/>
          <p:nvPr/>
        </p:nvSpPr>
        <p:spPr>
          <a:xfrm>
            <a:off x="4995672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59% auto</a:t>
            </a:r>
            <a:endParaRPr lang="en-US" sz="1100"/>
          </a:p>
        </p:txBody>
      </p:sp>
      <p:sp>
        <p:nvSpPr>
          <p:cNvPr id="33" name="Text 30"/>
          <p:cNvSpPr txBox="1"/>
          <p:nvPr/>
        </p:nvSpPr>
        <p:spPr>
          <a:xfrm>
            <a:off x="6050280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31% auto</a:t>
            </a:r>
            <a:endParaRPr lang="en-US" sz="1100"/>
          </a:p>
        </p:txBody>
      </p:sp>
      <p:sp>
        <p:nvSpPr>
          <p:cNvPr id="34" name="Shape 31"/>
          <p:cNvSpPr/>
          <p:nvPr/>
        </p:nvSpPr>
        <p:spPr>
          <a:xfrm>
            <a:off x="7726680" y="1691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01000" y="1828800"/>
            <a:ext cx="3383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0,60 → QWK 0,335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Descarta 11% das decisões, manda gente trabalhar, e o que sobra é pior do que sem filtro (0,349).</a:t>
            </a:r>
            <a:endParaRPr lang="en-US" sz="1400"/>
          </a:p>
        </p:txBody>
      </p:sp>
      <p:sp>
        <p:nvSpPr>
          <p:cNvPr id="36" name="Shape 33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001000" y="4114800"/>
            <a:ext cx="3383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0,70 → QWK 0,426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ganho real começa aqui — e custa 41% de revisão humana. Essa é a conta de viabilidade do produto.</a:t>
            </a:r>
            <a:endParaRPr lang="en-US" sz="14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DIAGNÓSTICO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Mesma métrica ruim, doenças opostas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28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105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C1 · escrita formal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 níveis dados pelo Jev</a:t>
            </a:r>
            <a:endParaRPr lang="en-US" sz="1400"/>
          </a:p>
        </p:txBody>
      </p:sp>
      <p:sp>
        <p:nvSpPr>
          <p:cNvPr id="9" name="Shape 6"/>
          <p:cNvSpPr/>
          <p:nvPr/>
        </p:nvSpPr>
        <p:spPr>
          <a:xfrm>
            <a:off x="868680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11" name="Text 8"/>
          <p:cNvSpPr txBox="1"/>
          <p:nvPr/>
        </p:nvSpPr>
        <p:spPr>
          <a:xfrm>
            <a:off x="685800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</a:t>
            </a:r>
            <a:endParaRPr lang="en-US" sz="1200"/>
          </a:p>
        </p:txBody>
      </p:sp>
      <p:sp>
        <p:nvSpPr>
          <p:cNvPr id="12" name="Shape 9"/>
          <p:cNvSpPr/>
          <p:nvPr/>
        </p:nvSpPr>
        <p:spPr>
          <a:xfrm>
            <a:off x="1702308" y="3983228"/>
            <a:ext cx="632460" cy="131572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519428" y="3672332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7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1519428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200"/>
          </a:p>
        </p:txBody>
      </p:sp>
      <p:sp>
        <p:nvSpPr>
          <p:cNvPr id="15" name="Shape 12"/>
          <p:cNvSpPr/>
          <p:nvPr/>
        </p:nvSpPr>
        <p:spPr>
          <a:xfrm>
            <a:off x="2535936" y="3306572"/>
            <a:ext cx="632460" cy="80822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353056" y="299567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43</a:t>
            </a:r>
            <a:endParaRPr lang="en-US" sz="1300"/>
          </a:p>
        </p:txBody>
      </p:sp>
      <p:sp>
        <p:nvSpPr>
          <p:cNvPr id="17" name="Text 14"/>
          <p:cNvSpPr txBox="1"/>
          <p:nvPr/>
        </p:nvSpPr>
        <p:spPr>
          <a:xfrm>
            <a:off x="2353056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200"/>
          </a:p>
        </p:txBody>
      </p:sp>
      <p:sp>
        <p:nvSpPr>
          <p:cNvPr id="18" name="Shape 15"/>
          <p:cNvSpPr/>
          <p:nvPr/>
        </p:nvSpPr>
        <p:spPr>
          <a:xfrm>
            <a:off x="3369564" y="3362960"/>
            <a:ext cx="632460" cy="75184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186684" y="3052064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40</a:t>
            </a:r>
            <a:endParaRPr lang="en-US" sz="1300"/>
          </a:p>
        </p:txBody>
      </p:sp>
      <p:sp>
        <p:nvSpPr>
          <p:cNvPr id="20" name="Text 17"/>
          <p:cNvSpPr txBox="1"/>
          <p:nvPr/>
        </p:nvSpPr>
        <p:spPr>
          <a:xfrm>
            <a:off x="3186684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203192" y="3926840"/>
            <a:ext cx="632460" cy="1879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020312" y="3615944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10</a:t>
            </a:r>
            <a:endParaRPr lang="en-US" sz="1300"/>
          </a:p>
        </p:txBody>
      </p:sp>
      <p:sp>
        <p:nvSpPr>
          <p:cNvPr id="23" name="Text 20"/>
          <p:cNvSpPr txBox="1"/>
          <p:nvPr/>
        </p:nvSpPr>
        <p:spPr>
          <a:xfrm>
            <a:off x="4020312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200"/>
          </a:p>
        </p:txBody>
      </p:sp>
      <p:sp>
        <p:nvSpPr>
          <p:cNvPr id="24" name="Shape 21"/>
          <p:cNvSpPr/>
          <p:nvPr/>
        </p:nvSpPr>
        <p:spPr>
          <a:xfrm>
            <a:off x="5036820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53940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26" name="Text 23"/>
          <p:cNvSpPr txBox="1"/>
          <p:nvPr/>
        </p:nvSpPr>
        <p:spPr>
          <a:xfrm>
            <a:off x="4853940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200"/>
          </a:p>
        </p:txBody>
      </p:sp>
      <p:sp>
        <p:nvSpPr>
          <p:cNvPr id="27" name="Shape 24"/>
          <p:cNvSpPr/>
          <p:nvPr/>
        </p:nvSpPr>
        <p:spPr>
          <a:xfrm>
            <a:off x="868680" y="4114800"/>
            <a:ext cx="480060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90488" y="1691640"/>
            <a:ext cx="5449824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64808" y="18105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C3 · argumentação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 níveis dados pelo Jev</a:t>
            </a:r>
            <a:endParaRPr lang="en-US" sz="1400"/>
          </a:p>
        </p:txBody>
      </p:sp>
      <p:sp>
        <p:nvSpPr>
          <p:cNvPr id="30" name="Shape 27"/>
          <p:cNvSpPr/>
          <p:nvPr/>
        </p:nvSpPr>
        <p:spPr>
          <a:xfrm>
            <a:off x="6510528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327648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32" name="Text 29"/>
          <p:cNvSpPr txBox="1"/>
          <p:nvPr/>
        </p:nvSpPr>
        <p:spPr>
          <a:xfrm>
            <a:off x="6327648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</a:t>
            </a:r>
            <a:endParaRPr lang="en-US" sz="1200"/>
          </a:p>
        </p:txBody>
      </p:sp>
      <p:sp>
        <p:nvSpPr>
          <p:cNvPr id="33" name="Shape 30"/>
          <p:cNvSpPr/>
          <p:nvPr/>
        </p:nvSpPr>
        <p:spPr>
          <a:xfrm>
            <a:off x="7344156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161276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35" name="Text 32"/>
          <p:cNvSpPr txBox="1"/>
          <p:nvPr/>
        </p:nvSpPr>
        <p:spPr>
          <a:xfrm>
            <a:off x="7161276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200"/>
          </a:p>
        </p:txBody>
      </p:sp>
      <p:sp>
        <p:nvSpPr>
          <p:cNvPr id="36" name="Shape 33"/>
          <p:cNvSpPr/>
          <p:nvPr/>
        </p:nvSpPr>
        <p:spPr>
          <a:xfrm>
            <a:off x="8177784" y="4096004"/>
            <a:ext cx="632460" cy="18796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94904" y="3785108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300"/>
          </a:p>
        </p:txBody>
      </p:sp>
      <p:sp>
        <p:nvSpPr>
          <p:cNvPr id="38" name="Text 35"/>
          <p:cNvSpPr txBox="1"/>
          <p:nvPr/>
        </p:nvSpPr>
        <p:spPr>
          <a:xfrm>
            <a:off x="7994904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200"/>
          </a:p>
        </p:txBody>
      </p:sp>
      <p:sp>
        <p:nvSpPr>
          <p:cNvPr id="39" name="Shape 36"/>
          <p:cNvSpPr/>
          <p:nvPr/>
        </p:nvSpPr>
        <p:spPr>
          <a:xfrm>
            <a:off x="9011412" y="3870452"/>
            <a:ext cx="632460" cy="24434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828532" y="355955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13</a:t>
            </a:r>
            <a:endParaRPr lang="en-US" sz="1300"/>
          </a:p>
        </p:txBody>
      </p:sp>
      <p:sp>
        <p:nvSpPr>
          <p:cNvPr id="41" name="Text 38"/>
          <p:cNvSpPr txBox="1"/>
          <p:nvPr/>
        </p:nvSpPr>
        <p:spPr>
          <a:xfrm>
            <a:off x="8828532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200"/>
          </a:p>
        </p:txBody>
      </p:sp>
      <p:sp>
        <p:nvSpPr>
          <p:cNvPr id="42" name="Shape 39"/>
          <p:cNvSpPr/>
          <p:nvPr/>
        </p:nvSpPr>
        <p:spPr>
          <a:xfrm>
            <a:off x="9845040" y="2517140"/>
            <a:ext cx="632460" cy="159766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662160" y="2206244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85</a:t>
            </a:r>
            <a:endParaRPr lang="en-US" sz="1300"/>
          </a:p>
        </p:txBody>
      </p:sp>
      <p:sp>
        <p:nvSpPr>
          <p:cNvPr id="44" name="Text 41"/>
          <p:cNvSpPr txBox="1"/>
          <p:nvPr/>
        </p:nvSpPr>
        <p:spPr>
          <a:xfrm>
            <a:off x="9662160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200"/>
          </a:p>
        </p:txBody>
      </p:sp>
      <p:sp>
        <p:nvSpPr>
          <p:cNvPr id="45" name="Shape 42"/>
          <p:cNvSpPr/>
          <p:nvPr/>
        </p:nvSpPr>
        <p:spPr>
          <a:xfrm>
            <a:off x="10678668" y="4096004"/>
            <a:ext cx="632460" cy="18796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0495788" y="3785108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300"/>
          </a:p>
        </p:txBody>
      </p:sp>
      <p:sp>
        <p:nvSpPr>
          <p:cNvPr id="47" name="Text 44"/>
          <p:cNvSpPr txBox="1"/>
          <p:nvPr/>
        </p:nvSpPr>
        <p:spPr>
          <a:xfrm>
            <a:off x="10495788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200"/>
          </a:p>
        </p:txBody>
      </p:sp>
      <p:sp>
        <p:nvSpPr>
          <p:cNvPr id="48" name="Shape 45"/>
          <p:cNvSpPr/>
          <p:nvPr/>
        </p:nvSpPr>
        <p:spPr>
          <a:xfrm>
            <a:off x="6510528" y="4114800"/>
            <a:ext cx="480060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48640" y="4846320"/>
            <a:ext cx="5449824" cy="1234440"/>
          </a:xfrm>
          <a:prstGeom prst="roundRect">
            <a:avLst>
              <a:gd name="adj" fmla="val 1037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2960" y="4983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Calibração</a:t>
            </a:r>
            <a:endParaRPr lang="en-US" sz="1700"/>
          </a:p>
        </p:txBody>
      </p:sp>
      <p:sp>
        <p:nvSpPr>
          <p:cNvPr id="51" name="Text 48"/>
          <p:cNvSpPr txBox="1"/>
          <p:nvPr/>
        </p:nvSpPr>
        <p:spPr>
          <a:xfrm>
            <a:off x="822960" y="5349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Sintoma: </a:t>
            </a:r>
            <a:r>
              <a:rPr lang="en-US" sz="12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usa a escala toda, mas deslocada para um lado</a:t>
            </a:r>
            <a:endParaRPr lang="en-US" sz="1200"/>
          </a:p>
          <a:p>
            <a:pPr marL="0" indent="0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Conserto: </a:t>
            </a:r>
            <a:r>
              <a:rPr lang="en-US" sz="12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mover o que cada nível descreve</a:t>
            </a:r>
            <a:endParaRPr lang="en-US" sz="1200"/>
          </a:p>
        </p:txBody>
      </p:sp>
      <p:sp>
        <p:nvSpPr>
          <p:cNvPr id="52" name="Shape 49"/>
          <p:cNvSpPr/>
          <p:nvPr/>
        </p:nvSpPr>
        <p:spPr>
          <a:xfrm>
            <a:off x="6190488" y="4846320"/>
            <a:ext cx="5449824" cy="1234440"/>
          </a:xfrm>
          <a:prstGeom prst="roundRect">
            <a:avLst>
              <a:gd name="adj" fmla="val 1037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464808" y="4983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Discriminação</a:t>
            </a:r>
            <a:endParaRPr lang="en-US" sz="1700"/>
          </a:p>
        </p:txBody>
      </p:sp>
      <p:sp>
        <p:nvSpPr>
          <p:cNvPr id="54" name="Text 51"/>
          <p:cNvSpPr txBox="1"/>
          <p:nvPr/>
        </p:nvSpPr>
        <p:spPr>
          <a:xfrm>
            <a:off x="6464808" y="5349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Sintoma: </a:t>
            </a:r>
            <a:r>
              <a:rPr lang="en-US" sz="12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empilha quase tudo num nível só</a:t>
            </a:r>
            <a:endParaRPr lang="en-US" sz="1200"/>
          </a:p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Conserto: </a:t>
            </a:r>
            <a:r>
              <a:rPr lang="en-US" sz="12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tornar as âncoras distinguíveis: contagens, critérios verificáveis</a:t>
            </a:r>
            <a:endParaRPr lang="en-US" sz="12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6 · 40 MIN · USA A API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Sua rubrica: diagnosticar, editar, re-rodar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29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Alvo A · C3 (discriminação)</a:t>
            </a:r>
            <a:endParaRPr lang="en-US" sz="1600"/>
          </a:p>
        </p:txBody>
      </p:sp>
      <p:sp>
        <p:nvSpPr>
          <p:cNvPr id="9" name="Text 6"/>
          <p:cNvSpPr txBox="1"/>
          <p:nvPr/>
        </p:nvSpPr>
        <p:spPr>
          <a:xfrm>
            <a:off x="822960" y="2240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Troque adjetivos (“mediano”, “bom”) por algo contável: número de argumentos desenvolvidos e presença de evidência concreta.</a:t>
            </a:r>
            <a:endParaRPr lang="en-US" sz="1400"/>
          </a:p>
        </p:txBody>
      </p:sp>
      <p:sp>
        <p:nvSpPr>
          <p:cNvPr id="10" name="Shape 7"/>
          <p:cNvSpPr/>
          <p:nvPr/>
        </p:nvSpPr>
        <p:spPr>
          <a:xfrm>
            <a:off x="548640" y="3977640"/>
            <a:ext cx="5449824" cy="2103120"/>
          </a:xfrm>
          <a:prstGeom prst="roundRect">
            <a:avLst>
              <a:gd name="adj" fmla="val 608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Alvo B · C1 (calibração)</a:t>
            </a:r>
            <a:endParaRPr lang="en-US" sz="1600"/>
          </a:p>
        </p:txBody>
      </p:sp>
      <p:sp>
        <p:nvSpPr>
          <p:cNvPr id="12" name="Text 9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Mantenha o estilo descritivo e mova o corte: afrouxe o que cada nível exige — o modelo é severo demais.</a:t>
            </a:r>
            <a:endParaRPr lang="en-US" sz="1400"/>
          </a:p>
        </p:txBody>
      </p:sp>
      <p:sp>
        <p:nvSpPr>
          <p:cNvPr id="13" name="Text 10"/>
          <p:cNvSpPr txBox="1"/>
          <p:nvPr/>
        </p:nvSpPr>
        <p:spPr>
          <a:xfrm>
            <a:off x="6190488" y="1691640"/>
            <a:ext cx="5449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Regras técnicas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6190488" y="2057400"/>
            <a:ext cx="54498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Exatamente 6 âncoras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em cada criteria</a:t>
            </a:r>
            <a:endParaRPr lang="en-US" sz="140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Ordem crescente: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posição 0 = pior</a:t>
            </a:r>
            <a:endParaRPr lang="en-US" sz="140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JSON válido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e limiar_confianca: 0.7</a:t>
            </a:r>
            <a:endParaRPr lang="en-US" sz="1400"/>
          </a:p>
        </p:txBody>
      </p:sp>
      <p:sp>
        <p:nvSpPr>
          <p:cNvPr id="15" name="Shape 12"/>
          <p:cNvSpPr/>
          <p:nvPr/>
        </p:nvSpPr>
        <p:spPr>
          <a:xfrm>
            <a:off x="6190488" y="3337560"/>
            <a:ext cx="5449824" cy="2743200"/>
          </a:xfrm>
          <a:prstGeom prst="roundRect">
            <a:avLst>
              <a:gd name="adj" fmla="val 4000"/>
            </a:avLst>
          </a:prstGeom>
          <a:solidFill>
            <a:srgbClr val="16102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64808" y="3566160"/>
            <a:ext cx="4901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evaluate.py --dry-run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sample-mini.jsonl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evaluate.py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sample-mini.jsonl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--cache </a:t>
            </a: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resultados-meus-v2.jsonl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compare.py --cache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resultados-meus-v2.jsonl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sample-mini.jsonl</a:t>
            </a:r>
            <a:endParaRPr lang="en-US" sz="12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6 · A REGRA DA HONESTIDADE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que 10 redações conseguem provar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30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29184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74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0,495</a:t>
            </a:r>
            <a:endParaRPr lang="en-US" sz="5200"/>
          </a:p>
        </p:txBody>
      </p:sp>
      <p:sp>
        <p:nvSpPr>
          <p:cNvPr id="9" name="Text 6"/>
          <p:cNvSpPr txBox="1"/>
          <p:nvPr/>
        </p:nvSpPr>
        <p:spPr>
          <a:xfrm>
            <a:off x="82296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 da referência em 100 redações</a:t>
            </a:r>
            <a:endParaRPr lang="en-US" sz="1400"/>
          </a:p>
        </p:txBody>
      </p:sp>
      <p:sp>
        <p:nvSpPr>
          <p:cNvPr id="10" name="Shape 7"/>
          <p:cNvSpPr/>
          <p:nvPr/>
        </p:nvSpPr>
        <p:spPr>
          <a:xfrm>
            <a:off x="4023360" y="1691640"/>
            <a:ext cx="3291840" cy="2194560"/>
          </a:xfrm>
          <a:prstGeom prst="roundRect">
            <a:avLst>
              <a:gd name="adj" fmla="val 5833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874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0,615</a:t>
            </a:r>
            <a:endParaRPr lang="en-US" sz="5200"/>
          </a:p>
        </p:txBody>
      </p:sp>
      <p:sp>
        <p:nvSpPr>
          <p:cNvPr id="12" name="Text 9"/>
          <p:cNvSpPr txBox="1"/>
          <p:nvPr/>
        </p:nvSpPr>
        <p:spPr>
          <a:xfrm>
            <a:off x="429768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mesma rubrica, nas 10 da mini-amostra</a:t>
            </a:r>
            <a:endParaRPr lang="en-US" sz="1400"/>
          </a:p>
        </p:txBody>
      </p:sp>
      <p:sp>
        <p:nvSpPr>
          <p:cNvPr id="13" name="Text 10"/>
          <p:cNvSpPr txBox="1"/>
          <p:nvPr/>
        </p:nvSpPr>
        <p:spPr>
          <a:xfrm>
            <a:off x="548640" y="41148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Mesmos dados, mesma rubrica. A diferença de 0,12 é só ruído de amostra pequena.</a:t>
            </a:r>
            <a:endParaRPr lang="en-US" sz="1800"/>
          </a:p>
        </p:txBody>
      </p:sp>
      <p:sp>
        <p:nvSpPr>
          <p:cNvPr id="14" name="Text 11"/>
          <p:cNvSpPr txBox="1"/>
          <p:nvPr/>
        </p:nvSpPr>
        <p:spPr>
          <a:xfrm>
            <a:off x="548640" y="49834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Para uma mudança de 0,05 no QWK ser real, seriam necessárias ~300 redações.</a:t>
            </a:r>
            <a:endParaRPr lang="en-US" sz="1500"/>
          </a:p>
        </p:txBody>
      </p:sp>
      <p:sp>
        <p:nvSpPr>
          <p:cNvPr id="15" name="Shape 12"/>
          <p:cNvSpPr/>
          <p:nvPr/>
        </p:nvSpPr>
        <p:spPr>
          <a:xfrm>
            <a:off x="7726680" y="1691640"/>
            <a:ext cx="3913632" cy="4389120"/>
          </a:xfrm>
          <a:prstGeom prst="roundRect">
            <a:avLst>
              <a:gd name="adj" fmla="val 3271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0100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Mire no grosso</a:t>
            </a:r>
            <a:endParaRPr lang="en-US" sz="2000"/>
          </a:p>
        </p:txBody>
      </p:sp>
      <p:sp>
        <p:nvSpPr>
          <p:cNvPr id="17" name="Text 14"/>
          <p:cNvSpPr txBox="1"/>
          <p:nvPr/>
        </p:nvSpPr>
        <p:spPr>
          <a:xfrm>
            <a:off x="8001000" y="246888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Um nível que não era usado passou a ser usado</a:t>
            </a:r>
            <a:endParaRPr lang="en-US" sz="150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Um viés de +40 virou +10</a:t>
            </a:r>
            <a:endParaRPr lang="en-US" sz="150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Uma competência que dava a mesma nota para tudo passou a variar</a:t>
            </a:r>
            <a:endParaRPr lang="en-US" sz="1500"/>
          </a:p>
        </p:txBody>
      </p:sp>
      <p:sp>
        <p:nvSpPr>
          <p:cNvPr id="18" name="Text 15"/>
          <p:cNvSpPr txBox="1"/>
          <p:nvPr/>
        </p:nvSpPr>
        <p:spPr>
          <a:xfrm>
            <a:off x="8001000" y="5120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Não a terceira casa decimal.</a:t>
            </a:r>
            <a:endParaRPr lang="en-US" sz="15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6 · O GABARITO (SÓ DEPOIS DE RODAREM)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que o laboratório original encontrou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31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583680" cy="457200"/>
          </a:xfrm>
          <a:prstGeom prst="rect">
            <a:avLst/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/>
          </a:p>
        </p:txBody>
      </p:sp>
      <p:sp>
        <p:nvSpPr>
          <p:cNvPr id="9" name="Text 6"/>
          <p:cNvSpPr txBox="1"/>
          <p:nvPr/>
        </p:nvSpPr>
        <p:spPr>
          <a:xfrm>
            <a:off x="288036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v1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434340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v2 contagens</a:t>
            </a:r>
            <a:endParaRPr lang="en-US" sz="1300"/>
          </a:p>
        </p:txBody>
      </p:sp>
      <p:sp>
        <p:nvSpPr>
          <p:cNvPr id="11" name="Text 8"/>
          <p:cNvSpPr txBox="1"/>
          <p:nvPr/>
        </p:nvSpPr>
        <p:spPr>
          <a:xfrm>
            <a:off x="580644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Δ</a:t>
            </a:r>
            <a:endParaRPr lang="en-US" sz="1300"/>
          </a:p>
        </p:txBody>
      </p:sp>
      <p:sp>
        <p:nvSpPr>
          <p:cNvPr id="12" name="Shape 9"/>
          <p:cNvSpPr/>
          <p:nvPr/>
        </p:nvSpPr>
        <p:spPr>
          <a:xfrm>
            <a:off x="548640" y="2148840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148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C1 escrita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288036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0,410</a:t>
            </a:r>
            <a:endParaRPr lang="en-US" sz="1400"/>
          </a:p>
        </p:txBody>
      </p:sp>
      <p:sp>
        <p:nvSpPr>
          <p:cNvPr id="15" name="Text 12"/>
          <p:cNvSpPr txBox="1"/>
          <p:nvPr/>
        </p:nvSpPr>
        <p:spPr>
          <a:xfrm>
            <a:off x="434340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0,196</a:t>
            </a:r>
            <a:endParaRPr lang="en-US" sz="1400"/>
          </a:p>
        </p:txBody>
      </p:sp>
      <p:sp>
        <p:nvSpPr>
          <p:cNvPr id="16" name="Text 13"/>
          <p:cNvSpPr txBox="1"/>
          <p:nvPr/>
        </p:nvSpPr>
        <p:spPr>
          <a:xfrm>
            <a:off x="580644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−0,213</a:t>
            </a:r>
            <a:endParaRPr lang="en-US" sz="1400"/>
          </a:p>
        </p:txBody>
      </p:sp>
      <p:sp>
        <p:nvSpPr>
          <p:cNvPr id="17" name="Shape 14"/>
          <p:cNvSpPr/>
          <p:nvPr/>
        </p:nvSpPr>
        <p:spPr>
          <a:xfrm>
            <a:off x="548640" y="2715768"/>
            <a:ext cx="658368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27157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C2 tema</a:t>
            </a:r>
            <a:endParaRPr lang="en-US" sz="1400"/>
          </a:p>
        </p:txBody>
      </p:sp>
      <p:sp>
        <p:nvSpPr>
          <p:cNvPr id="19" name="Text 16"/>
          <p:cNvSpPr txBox="1"/>
          <p:nvPr/>
        </p:nvSpPr>
        <p:spPr>
          <a:xfrm>
            <a:off x="288036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0,454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434340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0,231</a:t>
            </a:r>
            <a:endParaRPr lang="en-US" sz="1400"/>
          </a:p>
        </p:txBody>
      </p:sp>
      <p:sp>
        <p:nvSpPr>
          <p:cNvPr id="21" name="Text 18"/>
          <p:cNvSpPr txBox="1"/>
          <p:nvPr/>
        </p:nvSpPr>
        <p:spPr>
          <a:xfrm>
            <a:off x="580644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−0,224</a:t>
            </a:r>
            <a:endParaRPr lang="en-US" sz="1400"/>
          </a:p>
        </p:txBody>
      </p:sp>
      <p:sp>
        <p:nvSpPr>
          <p:cNvPr id="22" name="Shape 19"/>
          <p:cNvSpPr/>
          <p:nvPr/>
        </p:nvSpPr>
        <p:spPr>
          <a:xfrm>
            <a:off x="548640" y="3282696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C3 argumentação</a:t>
            </a:r>
            <a:endParaRPr lang="en-US" sz="1400"/>
          </a:p>
        </p:txBody>
      </p:sp>
      <p:sp>
        <p:nvSpPr>
          <p:cNvPr id="24" name="Text 21"/>
          <p:cNvSpPr txBox="1"/>
          <p:nvPr/>
        </p:nvSpPr>
        <p:spPr>
          <a:xfrm>
            <a:off x="288036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0,123</a:t>
            </a:r>
            <a:endParaRPr lang="en-US" sz="1400"/>
          </a:p>
        </p:txBody>
      </p:sp>
      <p:sp>
        <p:nvSpPr>
          <p:cNvPr id="25" name="Text 22"/>
          <p:cNvSpPr txBox="1"/>
          <p:nvPr/>
        </p:nvSpPr>
        <p:spPr>
          <a:xfrm>
            <a:off x="434340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0,160</a:t>
            </a:r>
            <a:endParaRPr lang="en-US" sz="1400"/>
          </a:p>
        </p:txBody>
      </p:sp>
      <p:sp>
        <p:nvSpPr>
          <p:cNvPr id="26" name="Text 23"/>
          <p:cNvSpPr txBox="1"/>
          <p:nvPr/>
        </p:nvSpPr>
        <p:spPr>
          <a:xfrm>
            <a:off x="580644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1F9D55"/>
                </a:solidFill>
                <a:latin typeface="Montserrat"/>
                <a:ea typeface="Montserrat"/>
                <a:cs typeface="Montserrat"/>
              </a:rPr>
              <a:t>+0,038</a:t>
            </a:r>
            <a:endParaRPr lang="en-US" sz="1400"/>
          </a:p>
        </p:txBody>
      </p:sp>
      <p:sp>
        <p:nvSpPr>
          <p:cNvPr id="27" name="Shape 24"/>
          <p:cNvSpPr/>
          <p:nvPr/>
        </p:nvSpPr>
        <p:spPr>
          <a:xfrm>
            <a:off x="548640" y="3849624"/>
            <a:ext cx="658368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84962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C4 coesão</a:t>
            </a:r>
            <a:endParaRPr lang="en-US" sz="1400"/>
          </a:p>
        </p:txBody>
      </p:sp>
      <p:sp>
        <p:nvSpPr>
          <p:cNvPr id="29" name="Text 26"/>
          <p:cNvSpPr txBox="1"/>
          <p:nvPr/>
        </p:nvSpPr>
        <p:spPr>
          <a:xfrm>
            <a:off x="288036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0,391</a:t>
            </a:r>
            <a:endParaRPr lang="en-US" sz="1400"/>
          </a:p>
        </p:txBody>
      </p:sp>
      <p:sp>
        <p:nvSpPr>
          <p:cNvPr id="30" name="Text 27"/>
          <p:cNvSpPr txBox="1"/>
          <p:nvPr/>
        </p:nvSpPr>
        <p:spPr>
          <a:xfrm>
            <a:off x="434340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0,431</a:t>
            </a:r>
            <a:endParaRPr lang="en-US" sz="1400"/>
          </a:p>
        </p:txBody>
      </p:sp>
      <p:sp>
        <p:nvSpPr>
          <p:cNvPr id="31" name="Text 28"/>
          <p:cNvSpPr txBox="1"/>
          <p:nvPr/>
        </p:nvSpPr>
        <p:spPr>
          <a:xfrm>
            <a:off x="580644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1F9D55"/>
                </a:solidFill>
                <a:latin typeface="Montserrat"/>
                <a:ea typeface="Montserrat"/>
                <a:cs typeface="Montserrat"/>
              </a:rPr>
              <a:t>+0,039</a:t>
            </a:r>
            <a:endParaRPr lang="en-US" sz="1400"/>
          </a:p>
        </p:txBody>
      </p:sp>
      <p:sp>
        <p:nvSpPr>
          <p:cNvPr id="32" name="Shape 29"/>
          <p:cNvSpPr/>
          <p:nvPr/>
        </p:nvSpPr>
        <p:spPr>
          <a:xfrm>
            <a:off x="548640" y="4416552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416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C5 proposta</a:t>
            </a:r>
            <a:endParaRPr lang="en-US" sz="1400"/>
          </a:p>
        </p:txBody>
      </p:sp>
      <p:sp>
        <p:nvSpPr>
          <p:cNvPr id="34" name="Text 31"/>
          <p:cNvSpPr txBox="1"/>
          <p:nvPr/>
        </p:nvSpPr>
        <p:spPr>
          <a:xfrm>
            <a:off x="288036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0,281</a:t>
            </a:r>
            <a:endParaRPr lang="en-US" sz="1400"/>
          </a:p>
        </p:txBody>
      </p:sp>
      <p:sp>
        <p:nvSpPr>
          <p:cNvPr id="35" name="Text 32"/>
          <p:cNvSpPr txBox="1"/>
          <p:nvPr/>
        </p:nvSpPr>
        <p:spPr>
          <a:xfrm>
            <a:off x="434340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0,224</a:t>
            </a:r>
            <a:endParaRPr lang="en-US" sz="1400"/>
          </a:p>
        </p:txBody>
      </p:sp>
      <p:sp>
        <p:nvSpPr>
          <p:cNvPr id="36" name="Text 33"/>
          <p:cNvSpPr txBox="1"/>
          <p:nvPr/>
        </p:nvSpPr>
        <p:spPr>
          <a:xfrm>
            <a:off x="580644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−0,057</a:t>
            </a:r>
            <a:endParaRPr lang="en-US" sz="1400"/>
          </a:p>
        </p:txBody>
      </p:sp>
      <p:sp>
        <p:nvSpPr>
          <p:cNvPr id="37" name="Shape 34"/>
          <p:cNvSpPr/>
          <p:nvPr/>
        </p:nvSpPr>
        <p:spPr>
          <a:xfrm>
            <a:off x="548640" y="4983480"/>
            <a:ext cx="6583680" cy="566928"/>
          </a:xfrm>
          <a:prstGeom prst="rect">
            <a:avLst/>
          </a:prstGeom>
          <a:solidFill>
            <a:srgbClr val="EBE7F5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5800" y="49834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TOTAL</a:t>
            </a:r>
            <a:endParaRPr lang="en-US" sz="1400"/>
          </a:p>
        </p:txBody>
      </p:sp>
      <p:sp>
        <p:nvSpPr>
          <p:cNvPr id="39" name="Text 36"/>
          <p:cNvSpPr txBox="1"/>
          <p:nvPr/>
        </p:nvSpPr>
        <p:spPr>
          <a:xfrm>
            <a:off x="288036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0,429</a:t>
            </a:r>
            <a:endParaRPr lang="en-US" sz="1400"/>
          </a:p>
        </p:txBody>
      </p:sp>
      <p:sp>
        <p:nvSpPr>
          <p:cNvPr id="40" name="Text 37"/>
          <p:cNvSpPr txBox="1"/>
          <p:nvPr/>
        </p:nvSpPr>
        <p:spPr>
          <a:xfrm>
            <a:off x="434340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0,377</a:t>
            </a:r>
            <a:endParaRPr lang="en-US" sz="1400"/>
          </a:p>
        </p:txBody>
      </p:sp>
      <p:sp>
        <p:nvSpPr>
          <p:cNvPr id="41" name="Text 38"/>
          <p:cNvSpPr txBox="1"/>
          <p:nvPr/>
        </p:nvSpPr>
        <p:spPr>
          <a:xfrm>
            <a:off x="580644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−0,053</a:t>
            </a:r>
            <a:endParaRPr lang="en-US" sz="1400"/>
          </a:p>
        </p:txBody>
      </p:sp>
      <p:sp>
        <p:nvSpPr>
          <p:cNvPr id="42" name="Text 39"/>
          <p:cNvSpPr txBox="1"/>
          <p:nvPr/>
        </p:nvSpPr>
        <p:spPr>
          <a:xfrm>
            <a:off x="54864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Validado em 100 redações de outro split (desenvolvimento)</a:t>
            </a:r>
            <a:endParaRPr lang="en-US" sz="1100"/>
          </a:p>
        </p:txBody>
      </p:sp>
      <p:sp>
        <p:nvSpPr>
          <p:cNvPr id="43" name="Shape 40"/>
          <p:cNvSpPr/>
          <p:nvPr/>
        </p:nvSpPr>
        <p:spPr>
          <a:xfrm>
            <a:off x="7498080" y="1691640"/>
            <a:ext cx="4142232" cy="2377440"/>
          </a:xfrm>
          <a:prstGeom prst="roundRect">
            <a:avLst>
              <a:gd name="adj" fmla="val 5385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v2 piorou no geral — 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 é o resultado mais instrutivo do projeto. Contagens ajudam onde o problema é discriminação (C3, C4) e atrapalham onde é calibração (C1, C2, C5).</a:t>
            </a:r>
            <a:endParaRPr lang="en-US" sz="1400"/>
          </a:p>
        </p:txBody>
      </p:sp>
      <p:sp>
        <p:nvSpPr>
          <p:cNvPr id="45" name="Shape 42"/>
          <p:cNvSpPr/>
          <p:nvPr/>
        </p:nvSpPr>
        <p:spPr>
          <a:xfrm>
            <a:off x="7498080" y="4251960"/>
            <a:ext cx="4142232" cy="1828800"/>
          </a:xfrm>
          <a:prstGeom prst="roundRect">
            <a:avLst>
              <a:gd name="adj" fmla="val 70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772400" y="4389120"/>
            <a:ext cx="3611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v3 híbrida </a:t>
            </a: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(rubric-referencia-v3.json): contagens em C3/C4, descritivas no resto. Validação incompleta — ainda sem número confiável.</a:t>
            </a:r>
            <a:endParaRPr lang="en-US" sz="14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7 · 20 MIN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Publique o resultado num pull request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32</a:t>
            </a:r>
            <a:endParaRPr lang="en-US" sz="1000"/>
          </a:p>
        </p:txBody>
      </p:sp>
      <p:sp>
        <p:nvSpPr>
          <p:cNvPr id="7" name="Text 4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NOTAS.md — o corpo do seu PR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103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O que eu mudei</a:t>
            </a:r>
            <a:endParaRPr lang="en-US" sz="130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7614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Por quê</a:t>
            </a:r>
            <a:endParaRPr lang="en-US" sz="1300"/>
          </a:p>
        </p:txBody>
      </p:sp>
      <p:sp>
        <p:nvSpPr>
          <p:cNvPr id="12" name="Shape 9"/>
          <p:cNvSpPr/>
          <p:nvPr/>
        </p:nvSpPr>
        <p:spPr>
          <a:xfrm>
            <a:off x="548640" y="3419856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1985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Hipótese (escrita antes de rodar)</a:t>
            </a:r>
            <a:endParaRPr lang="en-US" sz="130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0782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Resultado: antes × depois</a:t>
            </a:r>
            <a:endParaRPr lang="en-US" sz="1300"/>
          </a:p>
        </p:txBody>
      </p:sp>
      <p:sp>
        <p:nvSpPr>
          <p:cNvPr id="16" name="Shape 13"/>
          <p:cNvSpPr/>
          <p:nvPr/>
        </p:nvSpPr>
        <p:spPr>
          <a:xfrm>
            <a:off x="548640" y="4736592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473659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O que eu NÃO posso concluir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>
          <a:xfrm>
            <a:off x="548640" y="5394960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O que eu tentaria com mais orçamento</a:t>
            </a:r>
            <a:endParaRPr lang="en-US" sz="1300"/>
          </a:p>
        </p:txBody>
      </p:sp>
      <p:sp>
        <p:nvSpPr>
          <p:cNvPr id="20" name="Text 17"/>
          <p:cNvSpPr txBox="1"/>
          <p:nvPr/>
        </p:nvSpPr>
        <p:spPr>
          <a:xfrm>
            <a:off x="6190488" y="1691640"/>
            <a:ext cx="5449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Antes de qualquer git add</a:t>
            </a:r>
            <a:endParaRPr lang="en-US" sz="1400"/>
          </a:p>
        </p:txBody>
      </p:sp>
      <p:sp>
        <p:nvSpPr>
          <p:cNvPr id="21" name="Shape 18"/>
          <p:cNvSpPr/>
          <p:nvPr/>
        </p:nvSpPr>
        <p:spPr>
          <a:xfrm>
            <a:off x="6190488" y="2057400"/>
            <a:ext cx="5449824" cy="2514600"/>
          </a:xfrm>
          <a:prstGeom prst="roundRect">
            <a:avLst>
              <a:gd name="adj" fmla="val 4364"/>
            </a:avLst>
          </a:prstGeom>
          <a:solidFill>
            <a:srgbClr val="16102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64808" y="2286000"/>
            <a:ext cx="4901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check-ignore -v .env.local \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debug resultados-meus-v2.jsonl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add rubric.json NOTAS.md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commit -m "Reescreve ancoras de C3"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push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gh pr create --body-file NOTAS.md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6190488" y="4754880"/>
            <a:ext cx="5449824" cy="1325880"/>
          </a:xfrm>
          <a:prstGeom prst="roundRect">
            <a:avLst>
              <a:gd name="adj" fmla="val 9655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46520" y="48463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Revisão cruzada: 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pegue o PR de um colega e comente uma coisa — a conclusão é sustentada pelo tamanho da amostra?</a:t>
            </a:r>
            <a:endParaRPr lang="en-US" sz="1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O QUE VOCÊ LEVA DAQUI</a:t>
            </a:r>
            <a:endParaRPr lang="en-US" sz="120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Nada disso é específico do Jev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260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Decisão tipada ≠ LLM generativo</a:t>
            </a:r>
            <a:endParaRPr lang="en-US" sz="160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ferramentas diferentes para problemas diferentes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315968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2600"/>
          </a:p>
        </p:txBody>
      </p:sp>
      <p:sp>
        <p:nvSpPr>
          <p:cNvPr id="10" name="Text 8"/>
          <p:cNvSpPr txBox="1"/>
          <p:nvPr/>
        </p:nvSpPr>
        <p:spPr>
          <a:xfrm>
            <a:off x="4590288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Que grandeza esse número mede?</a:t>
            </a:r>
            <a:endParaRPr lang="en-US" sz="1600"/>
          </a:p>
        </p:txBody>
      </p:sp>
      <p:sp>
        <p:nvSpPr>
          <p:cNvPr id="11" name="Text 9"/>
          <p:cNvSpPr txBox="1"/>
          <p:nvPr/>
        </p:nvSpPr>
        <p:spPr>
          <a:xfrm>
            <a:off x="4590288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o score parecia nível e era valor esperado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8083296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57616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03</a:t>
            </a:r>
            <a:endParaRPr lang="en-US" sz="2600"/>
          </a:p>
        </p:txBody>
      </p:sp>
      <p:sp>
        <p:nvSpPr>
          <p:cNvPr id="14" name="Text 12"/>
          <p:cNvSpPr txBox="1"/>
          <p:nvPr/>
        </p:nvSpPr>
        <p:spPr>
          <a:xfrm>
            <a:off x="8357616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Grave o cru, derive depois</a:t>
            </a:r>
            <a:endParaRPr lang="en-US" sz="1600"/>
          </a:p>
        </p:txBody>
      </p:sp>
      <p:sp>
        <p:nvSpPr>
          <p:cNvPr id="15" name="Text 13"/>
          <p:cNvSpPr txBox="1"/>
          <p:nvPr/>
        </p:nvSpPr>
        <p:spPr>
          <a:xfrm>
            <a:off x="8357616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perguntas novas sem chamadas novas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04</a:t>
            </a:r>
            <a:endParaRPr lang="en-US" sz="2600"/>
          </a:p>
        </p:txBody>
      </p:sp>
      <p:sp>
        <p:nvSpPr>
          <p:cNvPr id="18" name="Text 16"/>
          <p:cNvSpPr txBox="1"/>
          <p:nvPr/>
        </p:nvSpPr>
        <p:spPr>
          <a:xfrm>
            <a:off x="822960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Relatório sem baseline é propaganda</a:t>
            </a:r>
            <a:endParaRPr lang="en-US" sz="1600"/>
          </a:p>
        </p:txBody>
      </p:sp>
      <p:sp>
        <p:nvSpPr>
          <p:cNvPr id="19" name="Text 17"/>
          <p:cNvSpPr txBox="1"/>
          <p:nvPr/>
        </p:nvSpPr>
        <p:spPr>
          <a:xfrm>
            <a:off x="822960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5% exato era o mesmo que chutar 600</a:t>
            </a:r>
            <a:endParaRPr lang="en-US" sz="1300"/>
          </a:p>
        </p:txBody>
      </p:sp>
      <p:sp>
        <p:nvSpPr>
          <p:cNvPr id="20" name="Shape 18"/>
          <p:cNvSpPr/>
          <p:nvPr/>
        </p:nvSpPr>
        <p:spPr>
          <a:xfrm>
            <a:off x="4315968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05</a:t>
            </a:r>
            <a:endParaRPr lang="en-US" sz="2600"/>
          </a:p>
        </p:txBody>
      </p:sp>
      <p:sp>
        <p:nvSpPr>
          <p:cNvPr id="22" name="Text 20"/>
          <p:cNvSpPr txBox="1"/>
          <p:nvPr/>
        </p:nvSpPr>
        <p:spPr>
          <a:xfrm>
            <a:off x="4590288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Diagnostique antes de consertar</a:t>
            </a:r>
            <a:endParaRPr lang="en-US" sz="1600"/>
          </a:p>
        </p:txBody>
      </p:sp>
      <p:sp>
        <p:nvSpPr>
          <p:cNvPr id="23" name="Text 21"/>
          <p:cNvSpPr txBox="1"/>
          <p:nvPr/>
        </p:nvSpPr>
        <p:spPr>
          <a:xfrm>
            <a:off x="4590288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viés e falta de discriminação pedem consertos opostos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8083296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57616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06</a:t>
            </a:r>
            <a:endParaRPr lang="en-US" sz="2600"/>
          </a:p>
        </p:txBody>
      </p:sp>
      <p:sp>
        <p:nvSpPr>
          <p:cNvPr id="26" name="Text 24"/>
          <p:cNvSpPr txBox="1"/>
          <p:nvPr/>
        </p:nvSpPr>
        <p:spPr>
          <a:xfrm>
            <a:off x="8357616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Diga onde o número não existe</a:t>
            </a:r>
            <a:endParaRPr lang="en-US" sz="1600"/>
          </a:p>
        </p:txBody>
      </p:sp>
      <p:sp>
        <p:nvSpPr>
          <p:cNvPr id="27" name="Text 25"/>
          <p:cNvSpPr txBox="1"/>
          <p:nvPr/>
        </p:nvSpPr>
        <p:spPr>
          <a:xfrm>
            <a:off x="8357616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é o que separa engenharia de marketing</a:t>
            </a:r>
            <a:endParaRPr lang="en-US" sz="1300"/>
          </a:p>
        </p:txBody>
      </p:sp>
      <p:pic>
        <p:nvPicPr>
          <p:cNvPr id="28" name="Image 0" descr="/home/claude/deck/assets/logo-bran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617220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logo-branco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48640" y="411480"/>
            <a:ext cx="2103120" cy="79176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Obrigado!</a:t>
            </a:r>
            <a:endParaRPr lang="en-US" sz="6000"/>
          </a:p>
        </p:txBody>
      </p:sp>
      <p:sp>
        <p:nvSpPr>
          <p:cNvPr id="4" name="Shape 1"/>
          <p:cNvSpPr/>
          <p:nvPr/>
        </p:nvSpPr>
        <p:spPr>
          <a:xfrm>
            <a:off x="548640" y="2834640"/>
            <a:ext cx="6492240" cy="566928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283464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github.com/webtech-network/workshop-jev</a:t>
            </a:r>
            <a:endParaRPr lang="en-US" sz="180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Quer continuar? Feche a validação da v3, rode em ~300 redações ou construa a camada de feedback em texto.</a:t>
            </a:r>
            <a:endParaRPr lang="en-US" sz="1600"/>
          </a:p>
        </p:txBody>
      </p:sp>
      <p:sp>
        <p:nvSpPr>
          <p:cNvPr id="7" name="Text 4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Conhecimento compartilhado. Possibilidades multiplicadas.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ebTech Network">
  <a:themeElements>
    <a:clrScheme name="WebTech Network">
      <a:dk1>
        <a:srgbClr val="0A0A0A"/>
      </a:dk1>
      <a:lt1>
        <a:srgbClr val="FFFFFF"/>
      </a:lt1>
      <a:dk2>
        <a:srgbClr val="5922A5"/>
      </a:dk2>
      <a:lt2>
        <a:srgbClr val="EBE7F5"/>
      </a:lt2>
      <a:accent1>
        <a:srgbClr val="5922A5"/>
      </a:accent1>
      <a:accent2>
        <a:srgbClr val="FFC31A"/>
      </a:accent2>
      <a:accent3>
        <a:srgbClr val="5430BF"/>
      </a:accent3>
      <a:accent4>
        <a:srgbClr val="B084FF"/>
      </a:accent4>
      <a:accent5>
        <a:srgbClr val="4B5563"/>
      </a:accent5>
      <a:accent6>
        <a:srgbClr val="9D8FCC"/>
      </a:accent6>
      <a:hlink>
        <a:srgbClr val="5430BF"/>
      </a:hlink>
      <a:folHlink>
        <a:srgbClr val="5922A5"/>
      </a:folHlink>
    </a:clrScheme>
    <a:fontScheme name="WebTech Network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WebTech Network">
  <a:themeElements>
    <a:clrScheme name="WebTech Network">
      <a:dk1>
        <a:srgbClr val="0A0A0A"/>
      </a:dk1>
      <a:lt1>
        <a:srgbClr val="FFFFFF"/>
      </a:lt1>
      <a:dk2>
        <a:srgbClr val="5922A5"/>
      </a:dk2>
      <a:lt2>
        <a:srgbClr val="EBE7F5"/>
      </a:lt2>
      <a:accent1>
        <a:srgbClr val="5922A5"/>
      </a:accent1>
      <a:accent2>
        <a:srgbClr val="FFC31A"/>
      </a:accent2>
      <a:accent3>
        <a:srgbClr val="5430BF"/>
      </a:accent3>
      <a:accent4>
        <a:srgbClr val="B084FF"/>
      </a:accent4>
      <a:accent5>
        <a:srgbClr val="4B5563"/>
      </a:accent5>
      <a:accent6>
        <a:srgbClr val="9D8FCC"/>
      </a:accent6>
      <a:hlink>
        <a:srgbClr val="5430BF"/>
      </a:hlink>
      <a:folHlink>
        <a:srgbClr val="5922A5"/>
      </a:folHlink>
    </a:clrScheme>
    <a:fontScheme name="WebTech Network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34</Slides>
  <Notes>34</Notes>
  <HiddenSlides>0</HiddenSlides>
  <Company>WebTech Network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JEV — corrigindo redações com um modelo de decisão</dc:title>
  <dc:subject>Workshop JEV</dc:subject>
  <dc:creator>WebTech Network</dc:creator>
  <cp:lastModifiedBy>WebTech Network</cp:lastModifiedBy>
  <cp:revision>1</cp:revision>
  <dcterms:created xsi:type="dcterms:W3CDTF">2026-10-21T16:55:20Z</dcterms:created>
  <dcterms:modified xsi:type="dcterms:W3CDTF">2026-10-21T16:55:20Z</dcterms:modified>
</cp:coreProperties>
</file>