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
O que é: um workshop prático da WebTech. Vamos montar um corretor automático de redações do ENEM usando o modelo Jev e, mais importante, descobrir com números — não com opinião — o quanto ele concorda com corretores humanos.
Não precisa de GPU nem de conta paga. A chave da API é minha e vale só para hoje.
Este workshop é a versão didática do LAB Jev, o laboratório da WebTech que investigou se o Jev serve como corretor de trabalhos acadêmicos.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cinco resultados que a pessoa leva.
A tese do workshop: vocês não vão aprender "usar uma API de IA". Vão aprender a AVALIAR se um modelo funciona — diagnóstico, hipótese, medição e conclusão com ressalva.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Agenda.
Só as etapas 3 e 6 gastam chamadas de API — de propósito: a chave é compartilhada pela turma. Todo o resto funciona offline com o cache de referência que já vem no repositório.
Se o tempo apertar: corte a revisão cruzada da etapa 7 e peça o PR como tarefa. Nunca corte a etapa 2 nem a baseline da etapa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Transição para a parte conceitual (etapa 2 do roteiro).
Não pule esta parte: é o que sustenta tudo o que vem depois.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Exposição central da etapa 2.
"Tipado" quer dizer que o formato da resposta é decidido ANTES da pergunta. Você não recebe "acho que uns 120 pontos, mas depende" — recebe um índice de 0 a 5, sempre, com a probabilidade de cada um.
Analogia para repetir: o LLM é um ensaísta que escreve um parecer; o Jev é um avaliador com prancheta que marca X num formulário.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balão do LLM e pergunte à turma: "qual é a nota?". Alguém vai dizer 160, outro 140 — esse é o ponto.
Com o Jev, a resposta já é estruturada. A confiança vai virar a fila de revisão humana mais tarde.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nome vem da psicologia (Kahneman): Sistema 1 é o pensamento rápido e automático; Sistema 2, o lento e deliberativo.
Consequência prática que vale repetir: o Jev NÃO consegue redigir feedback para o aluno. Ele só dá as notas. Feedback em texto seria um segundo modelo — e é um dos itens em aberto do laboratório.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tipos de pergunta: boolean, choice e score. Nós usamos só score, porque cada competência do ENEM tem seis níveis.
Curiosidade que já confundiu gente: na documentação nativa o booleano se chama "noul"; pelo gateway da Vercel, é "boolean".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campos no corpo, e só três: model, state, questions.
A palavra para memorizar é "state" — "avalie ESTE estado do mundo contra ESTAS perguntas". Não é messages, não é prompt.
O endpoint é /v1/evaluate. Se você mandar este modelo para /v1/chat/completions, a API recusa dizendo que ele é um modelo de avaliação, não de linguagem — prova de que a distinção do slide anterior não é teoria.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pulo do gato do projeto. criteria é uma lista ORDENADA de âncoras; a posição na lista é o nível.
Pergunta para discutir: o que acontece se as âncoras não estiverem em ordem crescente? (Resposta: a nota inverte — o experimento 2 do guia de arquitetura deixa o QWK de c1 fortemente negativo.)
Separação dados/lógica: quem ajusta a régua (o professor) não precisa saber programar.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 real, encurtada para uma competência.
Repare: 48% no nível 2 e 43% no nível 3. O modelo está praticamente em dúvida entre 80 e 120 pontos — e diz isso em número, o que permite automatizar a decisão de quando chamar um humano.
Não explique o score ainda: pergunte à turma o que eles acham que 2,49 significa.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momento mais importante em engenharia (etapa 4).
Antes de mostrar a conta: escreva no quadro score 0.51 e as probabilidades 0,50 / 0,49 e pergunte "qual nível o modelo escolheu?". Deixe alguém dizer "o 0,51, então uns 20 pontos". Só então revele que 20 não existe no ENEM.
Esse bug pegou o laboratório de verdade: a primeira versão do código tratava score como índice. Nenhuma revisão de código pegou; só a primeira chamada real.
Pergunta de fechamento: "quantos bugs assim existem em produção agora, em sistemas que ninguém auditou?"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evaluate.py não escolhe uma leitura: guarda as duas, com nomes que dizem o que cada uma é, mais o score bruto e a distribuição inteira.
Consequência: "e se eu usar a mediana?", "e se eu descartar empates?" — tudo se responde sem nenhuma chamada nova.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diagrama para decorar. Seis níveis × 40 = 200 por competência; cinco competências = 1000. A escala do ENEM cabe exatamente em 6 âncoras — não é coincidência.
Pergunta para discutir: o que quebra se a rubrica tiver 5 âncoras em vez de 6? (As notas saem erradas sem nenhum erro na tela.)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da esquerda para a direita: é o caminho dos dados. A única seta de mão dupla é a que sai para a internet.
sample.py não sabe que o Jev existe; compare.py não sabe o que é HTTP. Dá para trocar o modelo inteiro sem tocar em dois dos três scripts.
Nada de pip install: o workshop usa só a biblioteca padrão do Python.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padrões, todos visíveis no código do workshop. Cada proteção do evaluate.py existe porque queimou o laboratório: parar no 401/403 evita queimar 100 chamadas com credencial errada; parar em answers vazio evita cache vazio e métrica silenciosamente errada; backoff exponencial no 429 evitou perder 61 de 100 chamadas.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as métricas sem os números do Jev — os números ficam para a etapa 5, depois da baseline.
QWK: o "QW" pesa o erro pela distância ao quadrado; o "K" (kappa) desconta a concordância por sorte. Num corpus concentrado, chutar sempre o valor mais comum já acerta bastante.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Transição para a parte prática. A partir daqui cada slide ancora uma etapa do roteiro em etapas/.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Mande este slide (ou o SETUP.md) para a turma antes do dia. Quem travar chega 15 minutos antes.
Os dois comandos de verificação passam SEM a chave e sem o dataset: se passarem, a pessoa está pronta.
Problemas mais comuns: python vs python3 no Windows, .env.local salvo como .env.local.txt pelo Bloco de Notas, e UTF-16 do PowerShell.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Checagem em voz alta: python3 --version, git config user.email, git check-ignore -v .env.local.
Se o terceiro comando não imprimir nada, PARE: a chave pode ser comitada por acidente — é o único erro desta etapa com consequência fora da máquina.
Separe quem travou; os outros avançam.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as quatro regras antes da etapa 3, que é a primeira a gastar API.
Se alguém comitar a chave: revogue imediatamente no painel da Vercel (apagar o commit não remove do histórico), gere outra e redistribua. E use como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Projete o --dry-run na tela antes de qualquer um rodar. Três coisas contraintuitivas: não existe messages (o texto vai em state); as 5 competências vão numa requisição só; o endpoint é /v1/evaluate.
Limites desta etapa: 1, depois 3. Ninguém roda --limit 100.
Deu 429? Normal numa sala cheia: o script faz backoff e o cache retoma de onde parou.
Os números podem variar um pouco: o modelo não é estritamente determinístico.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Faça a conta 0,51 × 40 = 20 no quadro. Peça o erro ANTES de explicar. Depois volte ao slide "score não é o nível escolhido".
Resposta do exercício (spoiler, só depois): 40 de 500 — 8% das decisões são essencialmente cara ou coroa entre duas âncoras.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baseline é o clímax da etapa 5. Mostre-a PRIMEIRO, com o Jev escondido.
Pergunte se parece bom. Só então avance e revele que o Jev também acerta 5% exato — a diferença está no QWK e no MAE.
Comando: python3 compare.py --cache referencia/resultados-referencia-v1.jsonl --sample sample.jsonl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Revele agora: o Jev também tem 5% de acerto exato, igual a chutar 600. A diferença está no QWK (0,495 contra 0,000) e no MAE (160 contra 213).
Leve para a vida profissional: quando alguém disser "nosso modelo acerta 85%", a primeira pergunta é "e o que acerta chutando sempre a resposta mais comum?".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viés total é de +82 pontos, mas não é uniforme: C1 tem sinal oposto às outras.
Bloco 4 do compare.py: remover o viés médio é um conserto grátis — C3 sai de 0,18 para 0,35. Mas não faça isso no código: você estaria calibrando em cima destas 100 redações. A calibração é só o diagnóstico que diz onde a rubrica está torta.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Peça um palpite em voz alta ANTES de mostrar a tabela. Alguém vai dizer 0,6 ou 0,7.
O 0,60 está no rubric.json deles de propósito: o compare.py marca essa linha com "&lt;- rubric.json", e ela aparece pior que não filtrar. É o momento mais eficiente do workshop: o palpite está na tela, reprovado por uma tabela.
Abaixo de 0,70 a confiança do Jev não discrimina.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Comece por esta analogia, antes dos dados reais. As duas doenças têm a mesma cara no relatório — QWK baixo — mas são opostas.
Pergunte à turma: qual professor é pior? Muita gente responde "o Durão, porque erra todas".
Mostre então que o tipo de erro importa mais do que a quantidade. O erro do Durão é sempre o mesmo (−40), então dá para corrigir: some 40. O Morno não tem padrão para corrigir — ele não olhou as redações.
Dê os nomes: calibração = a régua está no lugar errado, mas mede. Discriminação = a régua não separa uma redação da outra.
Os próximos dois slides mostram que o Jev tem exatamente essas duas doenças: o Durão em C1, o Morno em C3.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Calibração com dados reais do cache de referência (100 redações, C1).
Leia o gráfico em pares: para cada nível que o humano deu, a barra escura é o nível médio que o Jev deu às mesmas redações.
Duas coisas ao mesmo tempo:
1) As barras escuras sobem da esquerda para a direita — o Jev distingue redação melhor de pior. Isso é bom e é o que torna o problema consertável.
2) Elas ficam sempre abaixo das claras — ele é severo demais. É o Prof. Durão. Viés médio de C1: −23 pontos.
Por que é um problema: a nota absoluta sai errada, sempre contra o aluno. Mas a régua mede; só está no lugar errado.
Hipótese para a severidade (não medida): erro de concordância é fácil de ver, então o modelo chega em "muitos desvios" antes do corretor humano.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Mesmo eixo e mesma escala nos dois gráficos: compare a forma.
À esquerda, a nota humana se espalha de 0 a 200. À direita, uma torre só. Isto é o Prof. Morno.
Não confunda com generosidade: se o Jev fosse só generoso (calibração ao contrário do C1), as notas subiriam junto com as do humano. Aqui elas quase não se movem — o nível médio vai de 3,4 nas redações que o humano zerou a 4,1 nas de nota máxima.
Pergunta para a turma: se eu disser que uma redação tirou 160 em C3 pelo Jev, o que vocês sabem sobre ela? Nada. É isso que o próximo slide desdobra.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 direta à pergunta "empilhar num nível é um problema por quê?".
1) Uma nota só é útil se ela muda quando a redação muda. Se quase todas tiram 160, a nota não carrega informação.
2) Nem o uso mais modesto — ranquear para o professor começar pelas piores — funciona dentro da torre.
3) O mais perigoso: o modelo está confiante (0,84). A fila de revisão humana manda para o professor as decisões de BAIXA confiança, então os erros de C3 passam direto.
4) Diferente do C1, não há atalho: subtrair o viés move a torre inteira, mas ela continua uma torre.
Contraste com calibração: no C1 nenhum desses quatro pontos vale — a nota informa, ranqueia, e o ajuste resolve. Por isso calibração é a doença "boa".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perguntas, nessa ordem, resolvem o diagnóstico.
Pergunta 1 se responde olhando a distribuição de níveis — o exercício abaixo. Pergunta 2 se responde com a coluna "viés" do compare.py.
A ordem importa: uma competência empilhada também tem viés (C3 tem +44), mas o viés ali é consequência da torre, não a causa. Por isso a pergunta 1 vem primeiro.
Exercício da matriz de confusão de C3 (5.7): quantos níveis ele usa? Redação 0 e redação 200 recebem o mesmo nível? A confiança em C3 é mais alta ou mais baixa que nas outras?
Respostas (spoiler): efetivamente 2 níveis, 85% num só; sim, 0 e 200 recebem nível 4; a confiança média de C3 é 0,84 — a MAIS ALTA das cinco. Ele está confiante justamente onde é pior.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a causa — é ela que aponta o conserto.
Leia as duas âncoras em voz alta e faça a pergunta do cartão. A turma vai hesitar. O modelo também hesita, mas não avisa: escolhe o nível 4 ("consistente", "clara") para quase tudo, porque nada no texto da redação permite provar que não é.
Repare que isto NÃO é calibração: mover essas âncoras um nível para cima ou para baixo só mudaria em que nível fica a torre. O problema é que as âncoras vizinhas não são distinguíveis.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"Alvo A" da etapa 6.
A ideia não é achar as contagens perfeitas: é trocar impressão por algo que dê para conferir na redação. As duas âncoras da direita estão no próprio roteiro da etapa 6; os níveis 0, 1, 2 e 5 são os alunos que escrevem.
O campo instructions importa tanto quanto as âncoras: é ali que se define o que conta como argumento e o que conta como evidência.
Dica para circular na sala: se uma âncora ainda tem um adjetivo sobre o qual dois professores discordariam, ela ainda não está contável.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"Alvo B" da etapa 6. O mecanismo é o ponto central:
o modelo não pensa "120 pontos"; ele compara a redação com seis descrições e escolhe a mais parecida. Se ele é severo, é porque a descrição que cabe nas redações medianas está numa posição baixa demais da lista.
Afrouxar o nível 3 (e os vizinhos, para a escala continuar em ordem) faz essas redações subirem um degrau.
Mantenha o estilo descritivo: em C1 o modelo já distingue bem — o gráfico de calibração mostrou isso. O que muda é onde cada nível começa, não o tipo de critério.
O laboratório testou contagens em C1 e o resultado piorou muito. O número aparece no gabarito, no fim da etapa — não antecipe.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Escolha UM ou DOIS alvos, com hipótese escrita no NOTAS.md antes de rodar. Os critérios de "deu certo" nos cartões vêm dos slides anteriores: para discriminação, conte os níveis usados; para calibração, olhe o viés (−34 é o "antes" de C1 nestas 10 redações, no bloco valor esperado).
Gargalos que você vai ver circulando: JSON inválido (vírgula sobrando) e --cache reusado.
Validação rápida: python3 -c "import json;r=json.load(open('rubric.json'));print({c: len(v['criteria']) for c,v in r['competencias'].items()})" — todos têm de ser 6.
Plano B se o provedor estiver devolvendo 429 sem parar: a edição da rubrica vira exercício escrito + defesa oral; o raciocínio é o que está sendo avaliado.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digitarem, a regra da honestidade. A mini-amostra tem 10 redações espalhadas de 0 a 1000, todas dentro do cache de referência — então o antes e o depois são medidos nas mesmas redações.
O teste que importa mais que o QWK: o modelo voltou a usar a escala? Se C3 antes usava {3: 3, 4: 7} e agora espalha por 3 ou 4 níveis, a discriminação foi consertada.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mostre depois que a turma rodou a própria rubrica.
Em C3, o colapso caiu de 86/100 para 51/100 no nível 4, e ele passou a usar 3 níveis em vez de 2.
A ressalva que o laboratório faz de si mesmo: a validação da v3 no split de teste parou em 22 de 100 (o provedor começou a recusar). Um projeto honesto diz onde o número não existe.
Discussão: por que validar num split diferente? Com 300 chamadas, uma rubrica × 300 ou 3 × 100?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seção "o que eu NÃO posso concluir" é a que mais impressiona quem lê — e quase ninguém escreve.
Mensagem de commit no imperativo, dizendo o que mudou. "update", "wip" e "final2" não dizem nada.
Depois do workshop a chave do instrutor será revogada; quem quiser continuar cria a própria na Vercel (AI Gateway → API Keys). Custo medido: US$ 0,000078 por redação.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com os seis pontos finais da etapa 7. Leia devagar: são as lições que valem fora deste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Itens que o laboratório deixou abertos, para quem quiser continuar:
- fechar a validação da v3 no split de teste (22 de 100 feitos);
- rodar em ~300 redações para uma métrica estável;
- a camada de feedback em texto (decidir o produto antes do código);
- Open-Jev self-hosted (modelos 2B/9B/27B em Docker, sem custo por chamada, mas precisa de GPU).
Lembre a turma: a chave de hoje será revogada.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AO">
    <p:bg>
      <p:bgPr>
        <a:solidFill>
          <a:srgbClr val="5922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0"/>
            <a:ext cx="100584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5922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jpe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assets/logo-branc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1480"/>
            <a:ext cx="2103120" cy="79176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</a:t>
            </a:r>
            <a:endParaRPr lang="en-US" sz="6800" dirty="0"/>
          </a:p>
        </p:txBody>
      </p:sp>
      <p:sp>
        <p:nvSpPr>
          <p:cNvPr id="4" name="Shape 1"/>
          <p:cNvSpPr/>
          <p:nvPr/>
        </p:nvSpPr>
        <p:spPr>
          <a:xfrm>
            <a:off x="5486400" y="1627632"/>
            <a:ext cx="2514600" cy="1097280"/>
          </a:xfrm>
          <a:prstGeom prst="roundRect">
            <a:avLst>
              <a:gd name="adj" fmla="val 8333"/>
            </a:avLst>
          </a:prstGeom>
          <a:solidFill>
            <a:srgbClr val="FFC31A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0" y="1627632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JEV</a:t>
            </a:r>
            <a:endParaRPr lang="en-US" sz="6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9260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Corrigindo redações do ENEM com um modelo de decisão — e medindo o quanto ele concorda com corretores humanos.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LAB Jev · Projeto de Extensão e Pesquisa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OBJETIVO DO DIA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Ao final, você vai saber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2057400" cy="416052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20574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430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0175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Dois tipos de IA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794760"/>
            <a:ext cx="1600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generativo × modelo de decisão tipada, e quando usar cada um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807208" y="1783080"/>
            <a:ext cx="2057400" cy="416052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035808" y="20574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430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3035808" y="30175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Ler a resposta certa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035808" y="3794760"/>
            <a:ext cx="1600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Chamar a API de avaliação sem cair na pegadinha que gera nota errada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65776" y="1783080"/>
            <a:ext cx="2057400" cy="416052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94376" y="20574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430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4400" dirty="0"/>
          </a:p>
        </p:txBody>
      </p:sp>
      <p:sp>
        <p:nvSpPr>
          <p:cNvPr id="17" name="Text 14"/>
          <p:cNvSpPr txBox="1"/>
          <p:nvPr/>
        </p:nvSpPr>
        <p:spPr>
          <a:xfrm>
            <a:off x="5294376" y="30175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Medir de verdade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5294376" y="3794760"/>
            <a:ext cx="1600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QWK, MAE, viés — por que uma baseline burra é obrigatória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324344" y="1783080"/>
            <a:ext cx="2057400" cy="416052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552944" y="20574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430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4400" dirty="0"/>
          </a:p>
        </p:txBody>
      </p:sp>
      <p:sp>
        <p:nvSpPr>
          <p:cNvPr id="21" name="Text 18"/>
          <p:cNvSpPr txBox="1"/>
          <p:nvPr/>
        </p:nvSpPr>
        <p:spPr>
          <a:xfrm>
            <a:off x="7552944" y="30175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Iterar na rubrica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552944" y="3794760"/>
            <a:ext cx="1600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Transformar uma rubrica em dados e melhorá-la com validação honesta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582912" y="1783080"/>
            <a:ext cx="2057400" cy="416052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811512" y="20574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430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4400" dirty="0"/>
          </a:p>
        </p:txBody>
      </p:sp>
      <p:sp>
        <p:nvSpPr>
          <p:cNvPr id="25" name="Text 22"/>
          <p:cNvSpPr txBox="1"/>
          <p:nvPr/>
        </p:nvSpPr>
        <p:spPr>
          <a:xfrm>
            <a:off x="9811512" y="30175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Fluxo de time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9811512" y="3794760"/>
            <a:ext cx="1600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fork → branch → commit → pull request, como no mercado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Sete etapas, duas usam a API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8092440" cy="54864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76479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EBE7F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1764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1691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Setup e GitHub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4297680" y="16916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fork, clone, branch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2331720"/>
            <a:ext cx="8092440" cy="54864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0080" y="240487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EBE7F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0080" y="2404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2331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conceito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4297680" y="23317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dois tipos de IA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48640" y="2971800"/>
            <a:ext cx="8092440" cy="548640"/>
          </a:xfrm>
          <a:prstGeom prst="roundRect">
            <a:avLst>
              <a:gd name="adj" fmla="val 23333"/>
            </a:avLst>
          </a:prstGeom>
          <a:solidFill>
            <a:srgbClr val="FFF6D6"/>
          </a:solidFill>
          <a:ln w="12700">
            <a:solidFill>
              <a:srgbClr val="FFF6D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0080" y="304495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FFC31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40080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234440" y="2971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Primeira chamada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9718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--dry-run e 1 redação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269480" y="3090672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FC31A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269480" y="309067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 a API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48640" y="3611880"/>
            <a:ext cx="8092440" cy="54864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40080" y="368503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EBE7F5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0080" y="3685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234440" y="36118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Pegadinha do score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4297680" y="3611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campo que engana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48640" y="4251960"/>
            <a:ext cx="8092440" cy="54864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0080" y="432511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EBE7F5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40080" y="43251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1234440" y="42519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Medindo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4297680" y="42519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QWK, baseline, limiar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548640" y="4892040"/>
            <a:ext cx="8092440" cy="548640"/>
          </a:xfrm>
          <a:prstGeom prst="roundRect">
            <a:avLst>
              <a:gd name="adj" fmla="val 23333"/>
            </a:avLst>
          </a:prstGeom>
          <a:solidFill>
            <a:srgbClr val="FFF6D6"/>
          </a:solidFill>
          <a:ln w="12700">
            <a:solidFill>
              <a:srgbClr val="FFF6D6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40080" y="496519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FFC31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40080" y="4965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1234440" y="48920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Sua rubrica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4297680" y="48920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diagnosticar e iterar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7269480" y="5010912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FC31A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7269480" y="501091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 a API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548640" y="5532120"/>
            <a:ext cx="8092440" cy="54864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40080" y="560527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EBE7F5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640080" y="5605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1234440" y="55321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Pull request</a:t>
            </a:r>
            <a:endParaRPr lang="en-US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4297680" y="5532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publicar o resultado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8869680" y="1691640"/>
            <a:ext cx="2773375" cy="2148840"/>
          </a:xfrm>
          <a:prstGeom prst="roundRect">
            <a:avLst>
              <a:gd name="adj" fmla="val 5957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9144000" y="1801368"/>
            <a:ext cx="2224735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C3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chamadas por aluno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4DA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só nas etapas 3 e 6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8869680" y="4023360"/>
            <a:ext cx="2773375" cy="2057400"/>
          </a:xfrm>
          <a:prstGeom prst="roundRect">
            <a:avLst>
              <a:gd name="adj" fmla="val 6222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144000" y="4133088"/>
            <a:ext cx="2224735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resto roda offline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etapas 4, 5 e 7 usam um cache que já vem pago no repositório.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5922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344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C3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7432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teoria: o que é o Jev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690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4DA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modelo que decide, não um modelo que escreve.</a:t>
            </a:r>
            <a:endParaRPr lang="en-US" sz="2000" dirty="0"/>
          </a:p>
        </p:txBody>
      </p:sp>
      <p:pic>
        <p:nvPicPr>
          <p:cNvPr id="5" name="Image 0" descr="/home/claude/deck/assets/logo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5989320"/>
            <a:ext cx="1417320" cy="53357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TEORIA · A DISTINÇÃO CENTRAL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Dois tipos de IA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971800" y="1645920"/>
            <a:ext cx="4206240" cy="685800"/>
          </a:xfrm>
          <a:prstGeom prst="roundRect">
            <a:avLst>
              <a:gd name="adj" fmla="val 13333"/>
            </a:avLst>
          </a:prstGeom>
          <a:solidFill>
            <a:srgbClr val="EBE7F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200400" y="171907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generativo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ChatGPT, Claude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7315200" y="1645920"/>
            <a:ext cx="4206240" cy="685800"/>
          </a:xfrm>
          <a:prstGeom prst="roundRect">
            <a:avLst>
              <a:gd name="adj" fmla="val 13333"/>
            </a:avLst>
          </a:prstGeom>
          <a:solidFill>
            <a:srgbClr val="5922A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543800" y="171907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 de decisão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E4DA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Jev (TypeSafe AI)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468880"/>
            <a:ext cx="10972800" cy="603504"/>
          </a:xfrm>
          <a:prstGeom prst="rect">
            <a:avLst/>
          </a:prstGeom>
          <a:solidFill>
            <a:srgbClr val="F1EEF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31520" y="2468880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devolve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200400" y="2468880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Texto livre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543800" y="2468880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valor tipado + probabilidades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307238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Analogia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3072384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ensaísta que escreve um parecer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543800" y="3072384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avaliador com prancheta que marca X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48640" y="3675888"/>
            <a:ext cx="10972800" cy="603504"/>
          </a:xfrm>
          <a:prstGeom prst="rect">
            <a:avLst/>
          </a:prstGeom>
          <a:solidFill>
            <a:srgbClr val="F1EEF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675888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Você pergunta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675888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“Avalie esta redação”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543800" y="3675888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“Em 6 níveis, qual o nível da gramática?”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731520" y="427939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Resposta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3200400" y="4279392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Três parágrafos de opinião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7543800" y="4279392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nível 2, confiança 0,62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48640" y="4882896"/>
            <a:ext cx="10972800" cy="603504"/>
          </a:xfrm>
          <a:prstGeom prst="rect">
            <a:avLst/>
          </a:prstGeom>
          <a:solidFill>
            <a:srgbClr val="F1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31520" y="4882896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Problema típico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3200400" y="4882896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Extrair o número do texto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7543800" y="4882896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Nenhum: o número vem diretamente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5486400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Velocidade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3200400" y="5486400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segundos a minutos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7543800" y="5486400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~0,5 s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TEORIA · POR QUE ISSO IMPORTA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Corrigir com um LLM cria três problemas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394960" cy="1874520"/>
          </a:xfrm>
          <a:prstGeom prst="roundRect">
            <a:avLst>
              <a:gd name="adj" fmla="val 6829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Resposta típica de um LLM generativo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76272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“A redação apresenta bom domínio da norma padrão, com alguns desvios de pontuação. Eu daria algo em torno de 160, talvez 140 dependendo do rigor.”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3840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C31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379476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Extrair o número  </a:t>
            </a:r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 um texto que diz “160, talvez 140”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4617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C31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457200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Garantir o formato  </a:t>
            </a:r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próxima chamada ele pode responder diferente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53949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C3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48640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534924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saber a confiança  </a:t>
            </a:r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“talvez” não é um número com que se filtre nada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16916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 o Jev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400800" y="2103120"/>
            <a:ext cx="5257800" cy="1965960"/>
          </a:xfrm>
          <a:prstGeom prst="roundRect">
            <a:avLst>
              <a:gd name="adj" fmla="val 5581"/>
            </a:avLst>
          </a:prstGeom>
          <a:solidFill>
            <a:srgbClr val="16102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675120" y="2286000"/>
            <a:ext cx="4709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{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B9A6E8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"score":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C31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3.2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,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B9A6E8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"confidence":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C31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0.71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,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B9A6E8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"probabilities":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{ ... }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}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400800" y="4343400"/>
            <a:ext cx="5257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Nada para extrair. </a:t>
            </a:r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 a confiança vem de graça — é ela que, na etapa 5, decide quais redações sobem para revisão humana.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TEORIA · O NOME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Jev é um modelo “System One”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120640" cy="4297680"/>
          </a:xfrm>
          <a:prstGeom prst="roundRect">
            <a:avLst>
              <a:gd name="adj" fmla="val 2979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14400" y="205740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FC3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~0,5 s</a:t>
            </a:r>
            <a:endParaRPr lang="en-US" sz="72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2461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decisão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402336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Jev é o reflexo, não a reflexão. Ele decide — e não escreve texto nenhum.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035040" y="1691640"/>
            <a:ext cx="5605272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55080" y="1801368"/>
            <a:ext cx="505663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Sistema 1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Rápido e automático. É o Jev: escolhe um nível numa escala e diz o quanto está seguro.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035040" y="3840480"/>
            <a:ext cx="5605272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55080" y="3950208"/>
            <a:ext cx="5056632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Sistema 2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Lento e deliberativo. Seria um LLM generativo redigindo o feedback para o aluno — um segundo passo, com outro modelo, ainda em aberto no projeto.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035040" y="6053328"/>
            <a:ext cx="5605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Termos de Kahneman (Rápido e Devagar)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TEORIA · A UNIDADE BÁSICA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Tudo gira em torno da pergunta tipada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737360"/>
            <a:ext cx="3547872" cy="260604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2057400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922A5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boolean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743200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“Isto é verdade?”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29184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devolve um valor de 0 a 1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315968" y="1737360"/>
            <a:ext cx="3547872" cy="260604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36008" y="2057400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922A5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choice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4636008" y="2743200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“Qual destas opções?”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4636008" y="329184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devolve a opção + a probabilidade de cada uma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83296" y="1737360"/>
            <a:ext cx="3547872" cy="2606040"/>
          </a:xfrm>
          <a:prstGeom prst="roundRect">
            <a:avLst>
              <a:gd name="adj" fmla="val 4912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03336" y="2057400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C31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score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8403336" y="2743200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“Em que nível numa escala?”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8403336" y="329184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4DA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devolve o nível + a probabilidade de cada nível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939528" y="212140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FC31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939528" y="21214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usamos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4617720"/>
            <a:ext cx="6949440" cy="1463040"/>
          </a:xfrm>
          <a:prstGeom prst="roundRect">
            <a:avLst>
              <a:gd name="adj" fmla="val 8750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2960" y="470916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que só score? </a:t>
            </a:r>
            <a:pPr indent="0" marL="0">
              <a:buNone/>
            </a:pPr>
            <a:r>
              <a:rPr lang="en-US" sz="16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ENEM é exatamente isso: cada competência vale 0, 40, 80, 120, 160 ou 200. Seis níveis numa escala.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7726680" y="4617720"/>
            <a:ext cx="3913632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955280" y="4709160"/>
            <a:ext cx="3520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Pegadinha de vocabulário: </a:t>
            </a:r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doc nativa da TypeSafe chama o booleano de “noul”; o Vercel AI Gateway chama de “boolean”. Pelo gateway, “noul” é recusado.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TEORIA · A REQUISIÇÃO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Anatomia da chamada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852160" cy="4434840"/>
          </a:xfrm>
          <a:prstGeom prst="roundRect">
            <a:avLst>
              <a:gd name="adj" fmla="val 2474"/>
            </a:avLst>
          </a:prstGeom>
          <a:solidFill>
            <a:srgbClr val="16102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1874520"/>
            <a:ext cx="530352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C31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POST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/v1/evaluate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9A6E8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"model":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"typesafe-ai/jev"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,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C31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"state":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"Título: ... texto da redação"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,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9A6E8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"questions":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"c1": { "type": "score",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        "instructions": "...",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        "criteria": [6 âncoras] },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9A6E8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"c2": ... "c5": ...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}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}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675120" y="1691640"/>
            <a:ext cx="4965192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49440" y="18288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5922A5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model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03920" y="18105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qual modelo usar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503920" y="21488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avaliador que você contratou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675120" y="2715768"/>
            <a:ext cx="4965192" cy="896112"/>
          </a:xfrm>
          <a:prstGeom prst="roundRect">
            <a:avLst>
              <a:gd name="adj" fmla="val 14286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49440" y="285292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state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8503920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texto a ser avaliado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503920" y="31729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prova que você põe na mesa dele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675120" y="3739896"/>
            <a:ext cx="4965192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49440" y="387705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5922A5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questions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503920" y="38587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perguntas e suas réguas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503920" y="41970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formulário que ele preenche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675120" y="4800600"/>
            <a:ext cx="49651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é 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messages</a:t>
            </a:r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não é 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/chat/completions</a:t>
            </a:r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As 5 competências vão numa requisição só: você paga o texto da redação uma vez, não cinco.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Processamento por lote, customizável, nativamente.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TEORIA · RUBRIC.JSON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rubrica vira pergunta: a posição é o nível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600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922A5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c1 · criteria</a:t>
            </a:r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lista ordenada de 6 âncoras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011680"/>
            <a:ext cx="566928" cy="512064"/>
          </a:xfrm>
          <a:prstGeom prst="roundRect">
            <a:avLst>
              <a:gd name="adj" fmla="val 14286"/>
            </a:avLst>
          </a:prstGeom>
          <a:solidFill>
            <a:srgbClr val="EBE7F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48640" y="201168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1234440" y="2011680"/>
            <a:ext cx="576072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417320" y="201168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Desconhecimento total da modalidade escrita formal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132320" y="201168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pts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651760"/>
            <a:ext cx="566928" cy="512064"/>
          </a:xfrm>
          <a:prstGeom prst="roundRect">
            <a:avLst>
              <a:gd name="adj" fmla="val 14286"/>
            </a:avLst>
          </a:prstGeom>
          <a:solidFill>
            <a:srgbClr val="EBE7F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" y="265176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1234440" y="2651760"/>
            <a:ext cx="576072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417320" y="265176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Domínio precário: desvios sistemáticos e graves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132320" y="265176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 pts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3291840"/>
            <a:ext cx="566928" cy="512064"/>
          </a:xfrm>
          <a:prstGeom prst="roundRect">
            <a:avLst>
              <a:gd name="adj" fmla="val 14286"/>
            </a:avLst>
          </a:prstGeom>
          <a:solidFill>
            <a:srgbClr val="EBE7F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48640" y="329184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1234440" y="3291840"/>
            <a:ext cx="576072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417320" y="329184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Domínio insuficiente: muitos desvios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132320" y="329184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80 pts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" y="3931920"/>
            <a:ext cx="566928" cy="512064"/>
          </a:xfrm>
          <a:prstGeom prst="roundRect">
            <a:avLst>
              <a:gd name="adj" fmla="val 14286"/>
            </a:avLst>
          </a:prstGeom>
          <a:solidFill>
            <a:srgbClr val="EBE7F5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48640" y="393192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1234440" y="3931920"/>
            <a:ext cx="576072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417320" y="393192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Domínio mediano: majoritariamente correto, mas…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32320" y="393192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120 pts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48640" y="4572000"/>
            <a:ext cx="566928" cy="512064"/>
          </a:xfrm>
          <a:prstGeom prst="roundRect">
            <a:avLst>
              <a:gd name="adj" fmla="val 14286"/>
            </a:avLst>
          </a:prstGeom>
          <a:solidFill>
            <a:srgbClr val="EBE7F5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48640" y="457200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1234440" y="4572000"/>
            <a:ext cx="576072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417320" y="457200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Bom domínio: poucos desvios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7132320" y="457200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160 pts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48640" y="5212080"/>
            <a:ext cx="566928" cy="512064"/>
          </a:xfrm>
          <a:prstGeom prst="roundRect">
            <a:avLst>
              <a:gd name="adj" fmla="val 14286"/>
            </a:avLst>
          </a:prstGeom>
          <a:solidFill>
            <a:srgbClr val="FFC31A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548640" y="521208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2000" dirty="0"/>
          </a:p>
        </p:txBody>
      </p:sp>
      <p:sp>
        <p:nvSpPr>
          <p:cNvPr id="35" name="Shape 32"/>
          <p:cNvSpPr/>
          <p:nvPr/>
        </p:nvSpPr>
        <p:spPr>
          <a:xfrm>
            <a:off x="1234440" y="5212080"/>
            <a:ext cx="576072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417320" y="521208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Excelente domínio: desvios raros e acidentais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132320" y="521208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pts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229600" y="1691640"/>
            <a:ext cx="3410712" cy="2103120"/>
          </a:xfrm>
          <a:prstGeom prst="roundRect">
            <a:avLst>
              <a:gd name="adj" fmla="val 6087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503920" y="1801368"/>
            <a:ext cx="2862072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Jev nunca vê “120 pontos”. Ele vê seis descrições em ordem e escolhe entre elas.</a:t>
            </a:r>
            <a:endParaRPr lang="en-US" sz="1700" dirty="0"/>
          </a:p>
        </p:txBody>
      </p:sp>
      <p:sp>
        <p:nvSpPr>
          <p:cNvPr id="40" name="Shape 37"/>
          <p:cNvSpPr/>
          <p:nvPr/>
        </p:nvSpPr>
        <p:spPr>
          <a:xfrm>
            <a:off x="8229600" y="3977640"/>
            <a:ext cx="3410712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503920" y="4087368"/>
            <a:ext cx="2862072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rubrica é dado, não código.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Trocar a régua é editar um JSON. O Python não sabe nada sobre redações.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TEORIA · A RESPOSTA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Anatomia da resposta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645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probabilities de c1 — redação real (idx 633)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011680"/>
            <a:ext cx="6583680" cy="4069080"/>
          </a:xfrm>
          <a:prstGeom prst="roundRect">
            <a:avLst>
              <a:gd name="adj" fmla="val 314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60120" y="5376672"/>
            <a:ext cx="792480" cy="18288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77240" y="5065776"/>
            <a:ext cx="115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0,00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5486400"/>
            <a:ext cx="115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nível 0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953768" y="5188804"/>
            <a:ext cx="792480" cy="206156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770888" y="4877908"/>
            <a:ext cx="115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0,04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770888" y="5486400"/>
            <a:ext cx="115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2947416" y="2921092"/>
            <a:ext cx="792480" cy="2473868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764536" y="2610196"/>
            <a:ext cx="115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0,48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764536" y="5486400"/>
            <a:ext cx="115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3941064" y="3178787"/>
            <a:ext cx="792480" cy="2216173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758184" y="2867891"/>
            <a:ext cx="115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0,43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758184" y="5486400"/>
            <a:ext cx="115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934712" y="5137265"/>
            <a:ext cx="792480" cy="257695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751832" y="4826369"/>
            <a:ext cx="115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0,05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751832" y="5486400"/>
            <a:ext cx="115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928360" y="5376672"/>
            <a:ext cx="792480" cy="18288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745480" y="5065776"/>
            <a:ext cx="115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0,00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745480" y="5486400"/>
            <a:ext cx="115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960120" y="5394960"/>
            <a:ext cx="5760720" cy="0"/>
          </a:xfrm>
          <a:prstGeom prst="line">
            <a:avLst/>
          </a:prstGeom>
          <a:noFill/>
          <a:ln w="12700">
            <a:solidFill>
              <a:srgbClr val="C9C3D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1691640"/>
            <a:ext cx="4233672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680960" y="1801368"/>
            <a:ext cx="368503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22A5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probabilities</a:t>
            </a:r>
            <a:endParaRPr lang="en-US" sz="1600" dirty="0"/>
          </a:p>
          <a:p>
            <a:pPr indent="0" marL="0">
              <a:buNone/>
            </a:pPr>
            <a:r>
              <a:rPr lang="en-US" sz="5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crença do modelo em cada nível. Soma 1,00. É o produto de verdade.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7406640" y="3172968"/>
            <a:ext cx="4233672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680960" y="3282696"/>
            <a:ext cx="368503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22A5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confidence  0,62</a:t>
            </a:r>
            <a:endParaRPr lang="en-US" sz="1600" dirty="0"/>
          </a:p>
          <a:p>
            <a:pPr indent="0" marL="0">
              <a:buNone/>
            </a:pPr>
            <a:r>
              <a:rPr lang="en-US" sz="5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quanto ele está concentrado num nível só. Baixa = candidata à revisão humana.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7406640" y="4654296"/>
            <a:ext cx="4233672" cy="1325880"/>
          </a:xfrm>
          <a:prstGeom prst="roundRect">
            <a:avLst>
              <a:gd name="adj" fmla="val 9655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680960" y="4764024"/>
            <a:ext cx="368503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score  2,49</a:t>
            </a:r>
            <a:endParaRPr lang="en-US" sz="1600" dirty="0"/>
          </a:p>
          <a:p>
            <a:pPr indent="0" marL="0">
              <a:buNone/>
            </a:pPr>
            <a:r>
              <a:rPr lang="en-US" sz="5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Parece o nível escolhido. Não é. Guarde esta dúvida para o próximo slide.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TEORIA · A PEGADINHA MAIS IMPORTANTE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Score não é o nível escolhido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1091672" cy="1325880"/>
          </a:xfrm>
          <a:prstGeom prst="roundRect">
            <a:avLst>
              <a:gd name="adj" fmla="val 9655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1691640"/>
            <a:ext cx="10424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FC3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score é o valor esperado, a média ponderada dos níveis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0×0,00 + 1×0,04 + 2×0,48 + 3×0,43 + 4×0,05 + 5×0,00 = 2,49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246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caso real do laboratório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3611880"/>
            <a:ext cx="5486400" cy="1051560"/>
          </a:xfrm>
          <a:prstGeom prst="roundRect">
            <a:avLst>
              <a:gd name="adj" fmla="val 10435"/>
            </a:avLst>
          </a:prstGeom>
          <a:solidFill>
            <a:srgbClr val="16102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22960" y="379476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B9A6E8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score: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C31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0.51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B9A6E8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probabilities: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{0: 0.50, 1: 0.49, 2: 0.01}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48640" y="4846320"/>
            <a:ext cx="548640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484632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score tratado como nível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566160" y="484632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0,51 × 40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4846320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 pts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48640" y="5468112"/>
            <a:ext cx="548640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7240" y="546811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nível mais provável (argmax)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566160" y="5468112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 × 40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846320" y="5468112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F9D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pts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492240" y="3246120"/>
            <a:ext cx="5148072" cy="2834640"/>
          </a:xfrm>
          <a:prstGeom prst="roundRect">
            <a:avLst>
              <a:gd name="adj" fmla="val 4516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766560" y="34747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 não existe no ENEM.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6766560" y="402336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notas são múltiplos de 40. O bug não trava, não avisa, e o CSV sai bonito — com o número errado.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766560" y="5074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Lição transferível: </a:t>
            </a:r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quando uma API devolve um número, se pergunte que grandeza ele mede.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TEORIA · O PRINCÍPIO DE PROJETO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Grave o dado cru, derive as leituras depois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449824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922A5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nota_argmax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3474720" y="193852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nível mais provável × 40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423160"/>
            <a:ext cx="4809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nota ENEM discreta — sempre múltiplo de 40. É a que um professor escreveria.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0488" y="1691640"/>
            <a:ext cx="5449824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10528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922A5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nota_esperada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9116568" y="193852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score × 40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510528" y="2423160"/>
            <a:ext cx="4809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Sinal contínuo. Não é nota válida, mas correlaciona melhor porque carrega a dúvida.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520440"/>
            <a:ext cx="5449824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8680" y="3749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922A5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score_bruto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376732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score original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4251960"/>
            <a:ext cx="4809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Guardado sem transformação, para auditoria.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190488" y="3520440"/>
            <a:ext cx="5449824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10528" y="3749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922A5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probabilities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9116568" y="376732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distribuição inteira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510528" y="4251960"/>
            <a:ext cx="4809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Permite responder qualquer pergunta nova sem chamada nova.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548640" y="5440680"/>
            <a:ext cx="11091672" cy="685800"/>
          </a:xfrm>
          <a:prstGeom prst="roundRect">
            <a:avLst>
              <a:gd name="adj" fmla="val 18667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8680" y="544068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o script gravasse só a nota final, cada ideia nova custaria 100 chamadas. Com o cru, custa 5 segundos.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TEORIA · DA REDAÇÃO À NOTA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escada de conversão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196596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4231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texto da redação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1089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vai em state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2514600" y="269748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825496" y="2148840"/>
            <a:ext cx="1965960" cy="1737360"/>
          </a:xfrm>
          <a:prstGeom prst="roundRect">
            <a:avLst>
              <a:gd name="adj" fmla="val 7368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008376" y="24231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Jev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3008376" y="31089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4DA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lê as 6 âncoras de cada competência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791456" y="269748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102352" y="2148840"/>
            <a:ext cx="1965960" cy="1737360"/>
          </a:xfrm>
          <a:prstGeom prst="roundRect">
            <a:avLst>
              <a:gd name="adj" fmla="val 7368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85232" y="24231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nível 0–5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5285232" y="31089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competência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068312" y="269748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7379208" y="2148840"/>
            <a:ext cx="1965960" cy="1737360"/>
          </a:xfrm>
          <a:prstGeom prst="roundRect">
            <a:avLst>
              <a:gd name="adj" fmla="val 7368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562088" y="24231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nota 0–200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7562088" y="31089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nível × 40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9345168" y="269748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9656064" y="2148840"/>
            <a:ext cx="1965960" cy="1737360"/>
          </a:xfrm>
          <a:prstGeom prst="roundRect">
            <a:avLst>
              <a:gd name="adj" fmla="val 7368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838944" y="24231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0–1000</a:t>
            </a:r>
            <a:endParaRPr lang="en-US" sz="1900" dirty="0"/>
          </a:p>
        </p:txBody>
      </p:sp>
      <p:sp>
        <p:nvSpPr>
          <p:cNvPr id="25" name="Text 22"/>
          <p:cNvSpPr txBox="1"/>
          <p:nvPr/>
        </p:nvSpPr>
        <p:spPr>
          <a:xfrm>
            <a:off x="9838944" y="31089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soma das 5 competências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48640" y="4343400"/>
            <a:ext cx="5394960" cy="1737360"/>
          </a:xfrm>
          <a:prstGeom prst="roundRect">
            <a:avLst>
              <a:gd name="adj" fmla="val 7368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68680" y="44805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C3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 40</a:t>
            </a:r>
            <a:endParaRPr lang="en-US" sz="4800" dirty="0"/>
          </a:p>
        </p:txBody>
      </p:sp>
      <p:sp>
        <p:nvSpPr>
          <p:cNvPr id="28" name="Text 25"/>
          <p:cNvSpPr txBox="1"/>
          <p:nvPr/>
        </p:nvSpPr>
        <p:spPr>
          <a:xfrm>
            <a:off x="868680" y="52578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 toda a matemática do projeto: 6 níveis, 200 pontos por competência, 5 competências = 1000.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245352" y="4343400"/>
            <a:ext cx="539496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519672" y="4453128"/>
            <a:ext cx="484632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40 mora num lugar só: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5922A5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"escala": 40</a:t>
            </a:r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no rubric.json. Mudar a régua não exige tocar no código.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TEORIA · ARQUITETURA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pipeline: quatro arquivos, um caminho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210312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9385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922A5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sample.py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77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escolhe quem avaliar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2697480" y="213055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3108960" y="1783080"/>
            <a:ext cx="210312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00400" y="19385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922A5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sample.jsonl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291840" y="2377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redações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257800" y="213055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669280" y="1783080"/>
            <a:ext cx="2103120" cy="1143000"/>
          </a:xfrm>
          <a:prstGeom prst="roundRect">
            <a:avLst>
              <a:gd name="adj" fmla="val 11200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9385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evaluate.py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852160" y="2377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4DA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pergunta ao Jev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213055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⇄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8229600" y="1783080"/>
            <a:ext cx="3410712" cy="1143000"/>
          </a:xfrm>
          <a:prstGeom prst="roundRect">
            <a:avLst>
              <a:gd name="adj" fmla="val 11200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321040" y="1938528"/>
            <a:ext cx="3227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Gateway → Jev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412480" y="2377440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Vercel cobra; TypeSafe AI decide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0" y="3611880"/>
            <a:ext cx="2103120" cy="1143000"/>
          </a:xfrm>
          <a:prstGeom prst="roundRect">
            <a:avLst>
              <a:gd name="adj" fmla="val 11200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760720" y="37673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922A5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rubric.json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85216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régua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6537960" y="30175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↑</a:t>
            </a:r>
            <a:endParaRPr lang="en-US" sz="2200" dirty="0"/>
          </a:p>
        </p:txBody>
      </p:sp>
      <p:sp>
        <p:nvSpPr>
          <p:cNvPr id="26" name="Text 23"/>
          <p:cNvSpPr txBox="1"/>
          <p:nvPr/>
        </p:nvSpPr>
        <p:spPr>
          <a:xfrm>
            <a:off x="5257800" y="30175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↓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3108960" y="3611880"/>
            <a:ext cx="210312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200400" y="37673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922A5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resultados-*.jsonl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329184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 das respostas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2697480" y="395935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←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48640" y="3611880"/>
            <a:ext cx="2103120" cy="1143000"/>
          </a:xfrm>
          <a:prstGeom prst="roundRect">
            <a:avLst>
              <a:gd name="adj" fmla="val 11200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0080" y="37673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compare.py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73152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4DA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mede a concordância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48640" y="5074920"/>
            <a:ext cx="11091672" cy="1005840"/>
          </a:xfrm>
          <a:prstGeom prst="roundRect">
            <a:avLst>
              <a:gd name="adj" fmla="val 12727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8680" y="507492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Regra de ouro: </a:t>
            </a:r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compare.py</a:t>
            </a:r>
            <a:pPr indent="0" marL="0">
              <a:buNone/>
            </a:pPr>
            <a:r>
              <a:rPr lang="en-US" sz="17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nunca chama a API — só lê o cache. Dá para rodar a análise cinquenta vezes de graça.</a:t>
            </a:r>
            <a:endParaRPr lang="en-US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8229600" y="3611880"/>
            <a:ext cx="34107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única seta de mão dupla é a que sai para a internet.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TEORIA · PADRÕES DE ENGENHARIA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Padrões de engenharia do projeto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737360"/>
            <a:ext cx="3547872" cy="2029968"/>
          </a:xfrm>
          <a:prstGeom prst="roundRect">
            <a:avLst>
              <a:gd name="adj" fmla="val 630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1965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430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450592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Pipeline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880360"/>
            <a:ext cx="2999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Cada etapa recebe a saída da anterior e não sabe nada das outras.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15968" y="1737360"/>
            <a:ext cx="3547872" cy="2029968"/>
          </a:xfrm>
          <a:prstGeom prst="roundRect">
            <a:avLst>
              <a:gd name="adj" fmla="val 630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90288" y="1965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430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590288" y="2450592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Cache-aside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590288" y="2880360"/>
            <a:ext cx="2999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Antes de gastar uma chamada, veja se a resposta já está no disco.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083296" y="1737360"/>
            <a:ext cx="3547872" cy="2029968"/>
          </a:xfrm>
          <a:prstGeom prst="roundRect">
            <a:avLst>
              <a:gd name="adj" fmla="val 630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57616" y="1965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430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8357616" y="2450592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Idempotência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357616" y="2880360"/>
            <a:ext cx="2999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Rodar de novo não estraga nada: o evaluate.py pula o que já está em cache.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3950208"/>
            <a:ext cx="3547872" cy="2029968"/>
          </a:xfrm>
          <a:prstGeom prst="roundRect">
            <a:avLst>
              <a:gd name="adj" fmla="val 6306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41788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430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66344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JSONL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5093208"/>
            <a:ext cx="2999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JSON por linha: grava incrementalmente e não perde trabalho se travar na redação 73.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315968" y="3950208"/>
            <a:ext cx="3547872" cy="2029968"/>
          </a:xfrm>
          <a:prstGeom prst="roundRect">
            <a:avLst>
              <a:gd name="adj" fmla="val 6306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90288" y="41788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430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4590288" y="466344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Fail-fast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590288" y="5093208"/>
            <a:ext cx="2999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no 401/403 e em resposta vazia, com backoff no 429. Pipeline que “roda” e mente é o pior.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8083296" y="3950208"/>
            <a:ext cx="3547872" cy="2029968"/>
          </a:xfrm>
          <a:prstGeom prst="roundRect">
            <a:avLst>
              <a:gd name="adj" fmla="val 6306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357616" y="41788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430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8357616" y="466344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Funções puras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357616" y="5093208"/>
            <a:ext cx="2999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extrair_notas, qwk, pearson: testáveis sem internet, só com um dicionário.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TEORIA · MÉTRICAS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Cinco medidas, nenhuma basta sozinha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6949440" cy="457200"/>
          </a:xfrm>
          <a:prstGeom prst="rect">
            <a:avLst/>
          </a:prstGeom>
          <a:solidFill>
            <a:srgbClr val="5922A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16916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Medida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1691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responde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166360" y="16916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Onde engana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148840"/>
            <a:ext cx="69494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1488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QWK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21488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concordância, descontando a sorte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166360" y="21488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difícil de interpretar sozinho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2697480"/>
            <a:ext cx="6949440" cy="548640"/>
          </a:xfrm>
          <a:prstGeom prst="rect">
            <a:avLst/>
          </a:prstGeom>
          <a:solidFill>
            <a:srgbClr val="FAFAFA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26974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MAE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2377440" y="2697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 quantos pontos ele erra, em média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166360" y="26974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diz se erra pra cima ou pra baixo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3246120"/>
            <a:ext cx="69494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3246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viés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2377440" y="3246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erra pra cima ou pra baixo?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166360" y="3246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esconde erros que se cancelam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" y="3794760"/>
            <a:ext cx="6949440" cy="548640"/>
          </a:xfrm>
          <a:prstGeom prst="rect">
            <a:avLst/>
          </a:prstGeom>
          <a:solidFill>
            <a:srgbClr val="FAFAFA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3794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exata / adj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2377440" y="3794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acertou a faixa? errou por uma só?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166360" y="37947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ignora o tamanho do erro grande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4343400"/>
            <a:ext cx="69494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1520" y="43434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 (Pearson)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2377440" y="4343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ordena bem, mesmo errando a nota?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5166360" y="43434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alto mesmo com nota toda deslocada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7726680" y="1691640"/>
            <a:ext cx="3913632" cy="2743200"/>
          </a:xfrm>
          <a:prstGeom prst="roundRect">
            <a:avLst>
              <a:gd name="adj" fmla="val 4667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001000" y="1801368"/>
            <a:ext cx="3364992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C3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QWK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Quadratic Weighted Kappa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4DA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1,0 = concordância perfeita; 0,0 = o mesmo que chutar. Errar por 3 faixas pesa 9× mais que errar por 1.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7726680" y="4617720"/>
            <a:ext cx="3913632" cy="1463040"/>
          </a:xfrm>
          <a:prstGeom prst="roundRect">
            <a:avLst>
              <a:gd name="adj" fmla="val 8750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001000" y="461772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relatório de IA sem baseline é suspeito.</a:t>
            </a:r>
            <a:endParaRPr lang="en-US" sz="17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257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baseline do workshop chuta sempre a nota mais comum do corpus — sem olhar a redação.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5922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344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C3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7432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prática: o workshop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690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4DA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Você monta o corretor, mede contra humanos, tenta melhorar a rubrica e publica o resultado num pull request.</a:t>
            </a:r>
            <a:endParaRPr lang="en-US" sz="2000" dirty="0"/>
          </a:p>
        </p:txBody>
      </p:sp>
      <p:pic>
        <p:nvPicPr>
          <p:cNvPr id="5" name="Image 0" descr="/home/claude/deck/assets/logo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5989320"/>
            <a:ext cx="1417320" cy="53357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PRÁTICA · ANTES DO WORKSHOP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Siga o SETUP.md até a verificação passar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764792"/>
            <a:ext cx="502920" cy="502920"/>
          </a:xfrm>
          <a:prstGeom prst="roundRect">
            <a:avLst>
              <a:gd name="adj" fmla="val 49091"/>
            </a:avLst>
          </a:prstGeom>
          <a:solidFill>
            <a:srgbClr val="5430B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7647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69164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Python 3.10+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203911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só a biblioteca padrão — nada de pip install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51176"/>
            <a:ext cx="502920" cy="502920"/>
          </a:xfrm>
          <a:prstGeom prst="roundRect">
            <a:avLst>
              <a:gd name="adj" fmla="val 49091"/>
            </a:avLst>
          </a:prstGeom>
          <a:solidFill>
            <a:srgbClr val="5430B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2551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280160" y="247802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configurado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282549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user.name e o mesmo e-mail da conta do GitHub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3337560"/>
            <a:ext cx="502920" cy="502920"/>
          </a:xfrm>
          <a:prstGeom prst="roundRect">
            <a:avLst>
              <a:gd name="adj" fmla="val 49091"/>
            </a:avLst>
          </a:prstGeom>
          <a:solidFill>
            <a:srgbClr val="5430B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337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326440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GitHub autenticado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1280160" y="361188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gh auth login (senha de conta não funciona)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4123944"/>
            <a:ext cx="502920" cy="502920"/>
          </a:xfrm>
          <a:prstGeom prst="roundRect">
            <a:avLst>
              <a:gd name="adj" fmla="val 49091"/>
            </a:avLst>
          </a:prstGeom>
          <a:solidFill>
            <a:srgbClr val="5430B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8640" y="41239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405079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Fork e clone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1280160" y="439826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gh repo fork webtech-network/workshop-jev --clone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" y="4910328"/>
            <a:ext cx="502920" cy="502920"/>
          </a:xfrm>
          <a:prstGeom prst="roundRect">
            <a:avLst>
              <a:gd name="adj" fmla="val 49091"/>
            </a:avLst>
          </a:prstGeom>
          <a:solidFill>
            <a:srgbClr val="5430B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48640" y="4910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1280160" y="483717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Chave da API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1280160" y="518464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.env.local, entregue no dia — nunca no repositório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6492240" y="1691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Verificação final (não gasta API)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492240" y="2057400"/>
            <a:ext cx="5148072" cy="3246120"/>
          </a:xfrm>
          <a:prstGeom prst="roundRect">
            <a:avLst>
              <a:gd name="adj" fmla="val 3380"/>
            </a:avLst>
          </a:prstGeom>
          <a:solidFill>
            <a:srgbClr val="16102A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766560" y="2240280"/>
            <a:ext cx="4599432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C31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$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python3 evaluate.py --dry-run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F86A8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[dry-run] 100 redacoes seriam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F86A8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avaliadas; nenhuma chamada feita.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C31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$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python3 compare.py \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--cache referencia/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  resultados-referencia-v1.jsonl \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--sample sample.jsonl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F86A8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TOTAL ... QWK ~0.5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492240" y="5440680"/>
            <a:ext cx="5148072" cy="685800"/>
          </a:xfrm>
          <a:prstGeom prst="roundRect">
            <a:avLst>
              <a:gd name="adj" fmla="val 18667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720840" y="544068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Windows: rode tudo no Git Bash, não no CMD nem no PowerShell.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PRÁTICA · ETAPA 1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fluxo de Git que times usam de verdade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2011680" cy="1920240"/>
          </a:xfrm>
          <a:prstGeom prst="roundRect">
            <a:avLst>
              <a:gd name="adj" fmla="val 6667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011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upstream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514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C31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webtech-network/workshop-jev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4DA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você lê, não escreve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560320" y="24688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2816352" y="1783080"/>
            <a:ext cx="2011680" cy="1920240"/>
          </a:xfrm>
          <a:prstGeom prst="roundRect">
            <a:avLst>
              <a:gd name="adj" fmla="val 6667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99232" y="2011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origin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2953512" y="2514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22A5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SEU-USUARIO/workshop-jev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999232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seu fork, onde você escreve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828032" y="24688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5084064" y="1783080"/>
            <a:ext cx="201168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266944" y="2011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clone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5221224" y="2514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22A5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./workshop-jev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onde você trabalha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095744" y="24688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7351776" y="1783080"/>
            <a:ext cx="201168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534656" y="2011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branch</a:t>
            </a:r>
            <a:endParaRPr lang="en-US" sz="1900" dirty="0"/>
          </a:p>
        </p:txBody>
      </p:sp>
      <p:sp>
        <p:nvSpPr>
          <p:cNvPr id="24" name="Text 21"/>
          <p:cNvSpPr txBox="1"/>
          <p:nvPr/>
        </p:nvSpPr>
        <p:spPr>
          <a:xfrm>
            <a:off x="7488936" y="2514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22A5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rubrica-SEU-USUARIO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7534656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nunca commite direto na main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9363456" y="24688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9619488" y="1783080"/>
            <a:ext cx="2011680" cy="1920240"/>
          </a:xfrm>
          <a:prstGeom prst="roundRect">
            <a:avLst>
              <a:gd name="adj" fmla="val 6667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802368" y="2011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pull request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9756648" y="2514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22A5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de volta para o upstream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802368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etapa 7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48640" y="3977640"/>
            <a:ext cx="6949440" cy="2103120"/>
          </a:xfrm>
          <a:prstGeom prst="roundRect">
            <a:avLst>
              <a:gd name="adj" fmla="val 5217"/>
            </a:avLst>
          </a:prstGeom>
          <a:solidFill>
            <a:srgbClr val="16102A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2960" y="4160520"/>
            <a:ext cx="6400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C31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$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git switch -c rubrica-SEU-USUARIO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C31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$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echo "# Notas de SEU-USUARIO" &gt; NOTAS.md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C31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$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git add NOTAS.md &amp;&amp; git commit -m "Adiciona notas"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C31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$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git push -u origin rubrica-SEU-USUARIO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7726680" y="3977640"/>
            <a:ext cx="3913632" cy="2103120"/>
          </a:xfrm>
          <a:prstGeom prst="roundRect">
            <a:avLst>
              <a:gd name="adj" fmla="val 6087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001000" y="4087368"/>
            <a:ext cx="3364992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Primeiro commit “de mentira”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Treina o ciclo inteiro antes de ter algo valioso a perder. O NOTAS.md vira o corpo do seu PR.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PRÁTICA · REGRAS DO WORKSHOP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Quatro regras que protegem a turma inteira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737360"/>
            <a:ext cx="5449824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19933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5430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1600200" y="2057400"/>
            <a:ext cx="4078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chave é compartilhada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560320"/>
            <a:ext cx="4078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Rode sempre sobre sample-mini.jsonl (10 redações). Quem roda as 100 derruba o provedor com 429 para todo mundo.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190488" y="1737360"/>
            <a:ext cx="5449824" cy="2011680"/>
          </a:xfrm>
          <a:prstGeom prst="roundRect">
            <a:avLst>
              <a:gd name="adj" fmla="val 6364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10528" y="19933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C3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7242048" y="2057400"/>
            <a:ext cx="4078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Nunca commite a chave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7242048" y="2560320"/>
            <a:ext cx="4078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4DA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Ela vive em .env.local, que está no .gitignore. Fork de repositório público é público, e o histórico é permanente.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3931920"/>
            <a:ext cx="5449824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8680" y="41879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5430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1600200" y="4251960"/>
            <a:ext cx="4078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--cache por rubrica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1600200" y="4754880"/>
            <a:ext cx="4078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cache pula o que já foi avaliado. Reusar o arquivo mede a rubrica velha achando que mede a nova.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190488" y="3931920"/>
            <a:ext cx="5449824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10528" y="41879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5430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7242048" y="4251960"/>
            <a:ext cx="4078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evaluate.py por cache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7242048" y="4754880"/>
            <a:ext cx="4078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Dois processos no mesmo --cache duplicam registros, e o compare.py não deduplica.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PRÁTICA · ETAPA 3 · USA A API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primeira chamada: olhe antes de pagar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02920" cy="502920"/>
          </a:xfrm>
          <a:prstGeom prst="roundRect">
            <a:avLst>
              <a:gd name="adj" fmla="val 49091"/>
            </a:avLst>
          </a:prstGeom>
          <a:solidFill>
            <a:srgbClr val="EBE7F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7373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Ver a requisição, sem gastar nada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2130552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22A5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python3 evaluate.py --dry-run --sample sample-mini.jsonl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770632"/>
            <a:ext cx="502920" cy="502920"/>
          </a:xfrm>
          <a:prstGeom prst="roundRect">
            <a:avLst>
              <a:gd name="adj" fmla="val 49091"/>
            </a:avLst>
          </a:prstGeom>
          <a:solidFill>
            <a:srgbClr val="FFC31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2770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280160" y="281635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Uma redação, com a resposta crua em debug/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3209544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22A5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python3 evaluate.py --sample sample-mini.jsonl --limit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922A5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--verbose --cache resultados-meus.jsonl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3849624"/>
            <a:ext cx="502920" cy="502920"/>
          </a:xfrm>
          <a:prstGeom prst="roundRect">
            <a:avLst>
              <a:gd name="adj" fmla="val 49091"/>
            </a:avLst>
          </a:prstGeom>
          <a:solidFill>
            <a:srgbClr val="FFC31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8496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3895344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Mais duas — e ver o cache trabalhar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280160" y="4288536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22A5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python3 evaluate.py --sample sample-mini.jsonl --limit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922A5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--cache resultados-meus.jsonl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0" y="16916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Saída esperada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315200" y="2057400"/>
            <a:ext cx="4325112" cy="1874520"/>
          </a:xfrm>
          <a:prstGeom prst="roundRect">
            <a:avLst>
              <a:gd name="adj" fmla="val 5854"/>
            </a:avLst>
          </a:prstGeom>
          <a:solidFill>
            <a:srgbClr val="16102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589520" y="2240280"/>
            <a:ext cx="37764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BE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[ok]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idx=633 gold=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C31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jev=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C31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440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9A6E8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[pulado]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idx=633 ja em cache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BE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[ok]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idx=597 gold=280 jev=400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BE0A0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[ok]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idx=86  gold=400 jev=440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315200" y="4114800"/>
            <a:ext cx="4325112" cy="1965960"/>
          </a:xfrm>
          <a:prstGeom prst="roundRect">
            <a:avLst>
              <a:gd name="adj" fmla="val 6512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589520" y="4224528"/>
            <a:ext cx="377647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Guarde esta dissonância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Uma redação que o humano zerou recebeu 440 do modelo. A etapa 5 explica — e não é bug.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5074920"/>
            <a:ext cx="644652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2960" y="507492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Armadilha: </a:t>
            </a:r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errar o nome do --cache não dá erro — cria um arquivo novo e cobra tudo de novo. Confira com ls -la *.jsonl.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PRÁTICA · ETAPA 4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Pergunta para a turma, antes de explicar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6766560" cy="4389120"/>
          </a:xfrm>
          <a:prstGeom prst="roundRect">
            <a:avLst>
              <a:gd name="adj" fmla="val 2917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19202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Qual nível o modelo escolheu?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960120" y="2697480"/>
            <a:ext cx="5943600" cy="3017520"/>
          </a:xfrm>
          <a:prstGeom prst="roundRect">
            <a:avLst>
              <a:gd name="adj" fmla="val 3636"/>
            </a:avLst>
          </a:prstGeom>
          <a:solidFill>
            <a:srgbClr val="1610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234440" y="288036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B9A6E8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score: </a:t>
            </a:r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FC31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0.51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B9A6E8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probabilities: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B9A6E8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0: </a:t>
            </a:r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0.50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B9A6E8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1: </a:t>
            </a:r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0.49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B9A6E8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2: </a:t>
            </a:r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0.01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635240" y="1691640"/>
            <a:ext cx="400507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Exercício: a terceira leitura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Quantas das 500 decisões do cache estão praticamente empatadas — as duas âncoras mais prováveis a menos de 0,05 uma da outra?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635240" y="3931920"/>
            <a:ext cx="4005072" cy="2148840"/>
          </a:xfrm>
          <a:prstGeom prst="roundRect">
            <a:avLst>
              <a:gd name="adj" fmla="val 5957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09560" y="3931920"/>
            <a:ext cx="3474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Esse número é o argumento mais forte a favor de uma fila de revisão humana.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PRÁTICA · ETAPA 5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Primeiro, a baseline burra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6400800" cy="1645920"/>
          </a:xfrm>
          <a:prstGeom prst="roundRect">
            <a:avLst>
              <a:gd name="adj" fmla="val 6667"/>
            </a:avLst>
          </a:prstGeom>
          <a:solidFill>
            <a:srgbClr val="16102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1965960"/>
            <a:ext cx="5852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FFC31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def </a:t>
            </a:r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corrigir</a:t>
            </a:r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(redacao):</a:t>
            </a:r>
            <a:endParaRPr lang="en-US" sz="3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FFC31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return </a:t>
            </a:r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FFC31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600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6118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olha a redação. Chuta sempre a nota mais frequente do corpus.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4251960"/>
            <a:ext cx="3108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43891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5430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5%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5349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 acerto exato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840480" y="4251960"/>
            <a:ext cx="3108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114800" y="43891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5430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+9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4114800" y="5349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pontos de viés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315200" y="1783080"/>
            <a:ext cx="4325112" cy="4297680"/>
          </a:xfrm>
          <a:prstGeom prst="roundRect">
            <a:avLst>
              <a:gd name="adj" fmla="val 2979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35240" y="1892808"/>
            <a:ext cx="3776472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Parece bom?</a:t>
            </a:r>
            <a:endParaRPr lang="en-US" sz="1700" dirty="0"/>
          </a:p>
          <a:p>
            <a:pPr indent="0" marL="0">
              <a:buNone/>
            </a:pPr>
            <a:r>
              <a:rPr lang="en-US" sz="10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alguém te mostrasse só “5% de acerto exato e viés de 9 pontos”, soaria razoável.</a:t>
            </a:r>
            <a:endParaRPr lang="en-US" sz="1700" dirty="0"/>
          </a:p>
          <a:p>
            <a:pPr indent="0" marL="0">
              <a:buNone/>
            </a:pPr>
            <a:r>
              <a:rPr lang="en-US" sz="10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Agora a pergunta: o Jev bate isso?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PRÁTICA · ETAPA 5 · O VEREDITO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Jev bate a baseline em QWK e MAE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560320" y="1737360"/>
            <a:ext cx="2240280" cy="548640"/>
          </a:xfrm>
          <a:prstGeom prst="roundRect">
            <a:avLst>
              <a:gd name="adj" fmla="val 13333"/>
            </a:avLst>
          </a:prstGeom>
          <a:solidFill>
            <a:srgbClr val="5922A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560320" y="1737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Jev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737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Chutar 600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48640" y="2377440"/>
            <a:ext cx="649224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3774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QWK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2560320" y="23774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0,495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4800600" y="23774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0,000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48640" y="3218688"/>
            <a:ext cx="649224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321868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MAE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2560320" y="3218688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160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4800600" y="3218688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213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548640" y="4059936"/>
            <a:ext cx="649224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" y="4059936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adjacente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2560320" y="4059936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25%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4800600" y="4059936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548640" y="4901184"/>
            <a:ext cx="649224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" y="4901184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exata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2560320" y="4901184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5%</a:t>
            </a:r>
            <a:endParaRPr lang="en-US" sz="2800" dirty="0"/>
          </a:p>
        </p:txBody>
      </p:sp>
      <p:sp>
        <p:nvSpPr>
          <p:cNvPr id="25" name="Text 22"/>
          <p:cNvSpPr txBox="1"/>
          <p:nvPr/>
        </p:nvSpPr>
        <p:spPr>
          <a:xfrm>
            <a:off x="4800600" y="4901184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7315200" y="1737360"/>
            <a:ext cx="4325112" cy="2148840"/>
          </a:xfrm>
          <a:prstGeom prst="roundRect">
            <a:avLst>
              <a:gd name="adj" fmla="val 5957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589520" y="1847088"/>
            <a:ext cx="3776472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C3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 = 0,71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 sabe distinguir redação ruim de redação boa. Ordena melhor do que pontua.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7315200" y="4069080"/>
            <a:ext cx="4325112" cy="2011680"/>
          </a:xfrm>
          <a:prstGeom prst="roundRect">
            <a:avLst>
              <a:gd name="adj" fmla="val 6364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589520" y="4178808"/>
            <a:ext cx="377647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Serve como ranqueador.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“Ordene estas 300 redações para o professor começar pelas piores.” Ainda não serve para dar nota oficial.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PRÁTICA · ETAPA 5 · VIÉS POR COMPETÊNCIA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Severo com gramática, generoso com conteúdo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6949440" cy="438912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114800" y="1874520"/>
            <a:ext cx="0" cy="4023360"/>
          </a:xfrm>
          <a:prstGeom prst="line">
            <a:avLst/>
          </a:prstGeom>
          <a:noFill/>
          <a:ln w="12700">
            <a:solidFill>
              <a:srgbClr val="C9C3D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011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C1 </a:t>
            </a:r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escrita formal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942173" y="2084832"/>
            <a:ext cx="1172627" cy="365760"/>
          </a:xfrm>
          <a:prstGeom prst="rect">
            <a:avLst/>
          </a:prstGeom>
          <a:solidFill>
            <a:srgbClr val="FFC31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206240" y="201168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−22,9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7889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C2 </a:t>
            </a:r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tema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114800" y="2862072"/>
            <a:ext cx="742493" cy="365760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948733" y="278892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+14,5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35661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C3 </a:t>
            </a:r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argumentação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114800" y="3639312"/>
            <a:ext cx="2278685" cy="365760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84925" y="356616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+44,5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43434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C4 </a:t>
            </a:r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coesão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114800" y="4416552"/>
            <a:ext cx="711769" cy="365760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918009" y="434340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+13,9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51206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C5 </a:t>
            </a:r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proposta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114800" y="5193792"/>
            <a:ext cx="1633484" cy="365760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839724" y="512064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+31,9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5760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pontos (média Jev − humano)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726680" y="1691640"/>
            <a:ext cx="3913632" cy="2057400"/>
          </a:xfrm>
          <a:prstGeom prst="roundRect">
            <a:avLst>
              <a:gd name="adj" fmla="val 6222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001000" y="1783080"/>
            <a:ext cx="3383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Erro de concordância </a:t>
            </a:r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 objetivo e visível. </a:t>
            </a:r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“O argumento é bom?” </a:t>
            </a:r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 julgamento — e, na dúvida, ele é gentil.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7726680" y="3931920"/>
            <a:ext cx="3913632" cy="2148840"/>
          </a:xfrm>
          <a:prstGeom prst="roundRect">
            <a:avLst>
              <a:gd name="adj" fmla="val 5957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001000" y="4041648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3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Viés aponta para a rubrica,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para o modelo. Subtrair o viés médio quase dobra o QWK de C3 (0,18 → 0,35) — o conserto honesto é reescrever as âncoras.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PRÁTICA · ETAPA 5 · LIMIAR DE CONFIANÇA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palpite de 0,60 é pior que não filtrar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6949440" cy="438912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QWK do que fica automatizado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960120" y="3159252"/>
            <a:ext cx="853440" cy="1595628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77240" y="2848356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0,349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846320"/>
            <a:ext cx="121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limiar 0,00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014728" y="3154680"/>
            <a:ext cx="853440" cy="1600200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831848" y="2843784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0,350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831848" y="4846320"/>
            <a:ext cx="121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limiar 0,50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069336" y="3223260"/>
            <a:ext cx="853440" cy="1531620"/>
          </a:xfrm>
          <a:prstGeom prst="rect">
            <a:avLst/>
          </a:prstGeom>
          <a:solidFill>
            <a:srgbClr val="FFC31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886456" y="2912364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0,335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886456" y="4846320"/>
            <a:ext cx="121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limiar 0,60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123944" y="3154680"/>
            <a:ext cx="853440" cy="1600200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941064" y="2843784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0,350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941064" y="4846320"/>
            <a:ext cx="121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limiar 0,65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178552" y="2807208"/>
            <a:ext cx="853440" cy="1947672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995672" y="2496312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0,426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995672" y="4846320"/>
            <a:ext cx="121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limiar 0,70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33160" y="2674620"/>
            <a:ext cx="853440" cy="2080260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050280" y="2363724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0,455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6050280" y="4846320"/>
            <a:ext cx="121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limiar 0,80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960120" y="4754880"/>
            <a:ext cx="6126480" cy="0"/>
          </a:xfrm>
          <a:prstGeom prst="line">
            <a:avLst/>
          </a:prstGeom>
          <a:noFill/>
          <a:ln w="12700">
            <a:solidFill>
              <a:srgbClr val="C9C3D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7240" y="5623560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100% auto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831848" y="5623560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96% auto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2886456" y="5623560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89% auto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3941064" y="5623560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78% auto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4995672" y="5623560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59% auto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6050280" y="5623560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31% auto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7726680" y="1691640"/>
            <a:ext cx="3913632" cy="2103120"/>
          </a:xfrm>
          <a:prstGeom prst="roundRect">
            <a:avLst>
              <a:gd name="adj" fmla="val 6087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001000" y="1801368"/>
            <a:ext cx="3364992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0,60 → QWK 0,335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Descarta 11% das decisões, manda gente trabalhar, e o que sobra é pior do que sem filtro (0,349).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7726680" y="3977640"/>
            <a:ext cx="3913632" cy="2103120"/>
          </a:xfrm>
          <a:prstGeom prst="roundRect">
            <a:avLst>
              <a:gd name="adj" fmla="val 6087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001000" y="4087368"/>
            <a:ext cx="3364992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C3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0,70 → QWK 0,426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ganho real começa aqui — e custa 41% de revisão humana. Essa é a conta de viabilidade do produto.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PRÁTICA · ETAPA 5 · DIAGNÓSTICO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Dois jeitos de errar uma nota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6949440" cy="502920"/>
          </a:xfrm>
          <a:prstGeom prst="rect">
            <a:avLst/>
          </a:prstGeom>
          <a:solidFill>
            <a:srgbClr val="5922A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16916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331720" y="16916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Nota certa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023360" y="16916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Prof. Durão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852160" y="16916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Prof. Morno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2194560"/>
            <a:ext cx="6949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219456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Redação A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331720" y="219456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023360" y="219456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430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5852160" y="219456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160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2761488"/>
            <a:ext cx="6949440" cy="566928"/>
          </a:xfrm>
          <a:prstGeom prst="rect">
            <a:avLst/>
          </a:prstGeom>
          <a:solidFill>
            <a:srgbClr val="FAFAFA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2761488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Redação B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2331720" y="276148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80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4023360" y="276148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430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0" y="276148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160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3328416"/>
            <a:ext cx="6949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31520" y="3328416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Redação C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2331720" y="332841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120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4023360" y="332841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430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80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5852160" y="332841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160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3895344"/>
            <a:ext cx="6949440" cy="566928"/>
          </a:xfrm>
          <a:prstGeom prst="rect">
            <a:avLst/>
          </a:prstGeom>
          <a:solidFill>
            <a:srgbClr val="FAFAFA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1520" y="3895344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Redação D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2331720" y="389534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160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4023360" y="3895344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430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120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5852160" y="3895344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160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548640" y="4462272"/>
            <a:ext cx="6949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31520" y="446227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Redação E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2331720" y="446227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4023360" y="446227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430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160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5852160" y="446227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160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7726680" y="1691640"/>
            <a:ext cx="3913632" cy="1481328"/>
          </a:xfrm>
          <a:prstGeom prst="roundRect">
            <a:avLst>
              <a:gd name="adj" fmla="val 8642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001000" y="1801368"/>
            <a:ext cx="336499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Prof. Durão · calibração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Erra todas, sempre 40 pontos para baixo. Mas a ordem está certa: quem escreve melhor tira mais.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7726680" y="3355848"/>
            <a:ext cx="3913632" cy="1673352"/>
          </a:xfrm>
          <a:prstGeom prst="roundRect">
            <a:avLst>
              <a:gd name="adj" fmla="val 7650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001000" y="3465576"/>
            <a:ext cx="336499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3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Prof. Morno · discriminação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Dá 160 para todo mundo. Até acerta uma — mas a nota dele não diz nada sobre nenhuma redação.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548640" y="5257800"/>
            <a:ext cx="11091672" cy="822960"/>
          </a:xfrm>
          <a:prstGeom prst="roundRect">
            <a:avLst>
              <a:gd name="adj" fmla="val 15556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8680" y="525780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Qual dos dois é pior? </a:t>
            </a:r>
            <a:pPr indent="0" marL="0">
              <a:buNone/>
            </a:pPr>
            <a:r>
              <a:rPr lang="en-US" sz="16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Durão tem conserto: some 40 e ele acerta tudo. O Morno não tem — ele não está medindo nada.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PRÁTICA · ETAPA 5 · CALIBRAÇÃO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Calibração: a régua está deslocada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29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6949440" cy="438912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1810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C1 · escrita formal — nível dado pelo humano × nível médio dado pelo Jev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22960" y="2212848"/>
            <a:ext cx="182880" cy="182880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78992" y="21671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humano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057400" y="2212848"/>
            <a:ext cx="182880" cy="182880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313432" y="21671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Jev (média das mesmas redações)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60120" y="4319693"/>
            <a:ext cx="574929" cy="846667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22960" y="4027085"/>
            <a:ext cx="8492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608201" y="4353560"/>
            <a:ext cx="574929" cy="812800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471041" y="4060952"/>
            <a:ext cx="8492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1,9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5239512"/>
            <a:ext cx="14973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humano deu 80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13 redações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594610" y="3896360"/>
            <a:ext cx="574929" cy="1270000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457450" y="3603752"/>
            <a:ext cx="8492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242691" y="4184227"/>
            <a:ext cx="574929" cy="982133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105531" y="3891619"/>
            <a:ext cx="8492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2,3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457450" y="5239512"/>
            <a:ext cx="14973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humano deu 120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41 redações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229100" y="3473027"/>
            <a:ext cx="574929" cy="1693333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091940" y="3180419"/>
            <a:ext cx="8492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877181" y="3934460"/>
            <a:ext cx="574929" cy="1231900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740021" y="3641852"/>
            <a:ext cx="8492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2,9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091940" y="5239512"/>
            <a:ext cx="14973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humano deu 160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33 redações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863590" y="3049693"/>
            <a:ext cx="574929" cy="2116667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726430" y="2757085"/>
            <a:ext cx="8492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6511671" y="3714327"/>
            <a:ext cx="574929" cy="1452033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374511" y="3421719"/>
            <a:ext cx="8492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3,4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726430" y="5239512"/>
            <a:ext cx="14973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humano deu 200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 redações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960120" y="5166360"/>
            <a:ext cx="6126480" cy="0"/>
          </a:xfrm>
          <a:prstGeom prst="line">
            <a:avLst/>
          </a:prstGeom>
          <a:noFill/>
          <a:ln w="12700">
            <a:solidFill>
              <a:srgbClr val="C9C3D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22960" y="576072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6 redações com nota humana 0 ou 40 ficaram de fora: são poucas demais para tirar média.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726680" y="1691640"/>
            <a:ext cx="3913632" cy="1371600"/>
          </a:xfrm>
          <a:prstGeom prst="roundRect">
            <a:avLst>
              <a:gd name="adj" fmla="val 9333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001000" y="1801368"/>
            <a:ext cx="336499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C3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 ordena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Quando o humano sobe de nível, o Jev sobe junto: 1,9 → 2,3 → 2,9 → 3,4. A informação está lá.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7726680" y="3200400"/>
            <a:ext cx="3913632" cy="1371600"/>
          </a:xfrm>
          <a:prstGeom prst="roundRect">
            <a:avLst>
              <a:gd name="adj" fmla="val 9333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001000" y="3310128"/>
            <a:ext cx="336499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 fica sempre abaixo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48 de 100 redações receberam exatamente 1 nível a menos que o humano. Só 8 receberam nível acima.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7726680" y="4709160"/>
            <a:ext cx="3913632" cy="1371600"/>
          </a:xfrm>
          <a:prstGeom prst="roundRect">
            <a:avLst>
              <a:gd name="adj" fmla="val 9333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001000" y="4818888"/>
            <a:ext cx="336499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que é um problema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nota sai errada para quase todo mundo, e sempre contra o aluno: 40 pontos a menos em C1 que ele não merecia perder.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PRÁTICA · ETAPA 5 · DISCRIMINAÇÃO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Discriminação: a régua não separa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449824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18105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Humanos · nota de C3 em 100 redações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68680" y="3797808"/>
            <a:ext cx="632460" cy="134112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85800" y="3486912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02336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702308" y="3781044"/>
            <a:ext cx="632460" cy="150876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519428" y="3470148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519428" y="402336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535936" y="3496056"/>
            <a:ext cx="632460" cy="435864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353056" y="3185160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2353056" y="402336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369564" y="3479292"/>
            <a:ext cx="632460" cy="452628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186684" y="3168396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3186684" y="402336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120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203192" y="3579876"/>
            <a:ext cx="632460" cy="352044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020312" y="3268980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0312" y="402336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160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036820" y="3781044"/>
            <a:ext cx="632460" cy="150876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853940" y="3470148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853940" y="402336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68680" y="3931920"/>
            <a:ext cx="4800600" cy="0"/>
          </a:xfrm>
          <a:prstGeom prst="line">
            <a:avLst/>
          </a:prstGeom>
          <a:noFill/>
          <a:ln w="12700">
            <a:solidFill>
              <a:srgbClr val="C9C3D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190488" y="1691640"/>
            <a:ext cx="5449824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64808" y="18105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Jev · nota de C3 nas mesmas 100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510528" y="3913632"/>
            <a:ext cx="632460" cy="18288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327648" y="3602736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6327648" y="402336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344156" y="3913632"/>
            <a:ext cx="632460" cy="18288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161276" y="3602736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7161276" y="402336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8177784" y="3913632"/>
            <a:ext cx="632460" cy="18288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994904" y="3602736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7994904" y="402336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80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9011412" y="3713988"/>
            <a:ext cx="632460" cy="217932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8828532" y="3403092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13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8828532" y="402336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120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9845040" y="2506980"/>
            <a:ext cx="632460" cy="1424940"/>
          </a:xfrm>
          <a:prstGeom prst="rect">
            <a:avLst/>
          </a:prstGeom>
          <a:solidFill>
            <a:srgbClr val="FFC31A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9662160" y="2196084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85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9662160" y="402336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160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10678668" y="3913632"/>
            <a:ext cx="632460" cy="18288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10495788" y="3602736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10495788" y="402336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6510528" y="3931920"/>
            <a:ext cx="4800600" cy="0"/>
          </a:xfrm>
          <a:prstGeom prst="line">
            <a:avLst/>
          </a:prstGeom>
          <a:noFill/>
          <a:ln w="12700">
            <a:solidFill>
              <a:srgbClr val="C9C3DA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48640" y="4663440"/>
            <a:ext cx="6949440" cy="1417320"/>
          </a:xfrm>
          <a:prstGeom prst="roundRect">
            <a:avLst>
              <a:gd name="adj" fmla="val 9032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22960" y="4773168"/>
            <a:ext cx="640080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Os humanos usam a escala inteira. O Jev põe 85 de 100 redações no nível 4.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4DA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Redações que o humano zerou e redações que ele deu 200 recebem o mesmo nível.</a:t>
            </a:r>
            <a:endParaRPr lang="en-US" sz="1500" dirty="0"/>
          </a:p>
        </p:txBody>
      </p:sp>
      <p:sp>
        <p:nvSpPr>
          <p:cNvPr id="51" name="Shape 48"/>
          <p:cNvSpPr/>
          <p:nvPr/>
        </p:nvSpPr>
        <p:spPr>
          <a:xfrm>
            <a:off x="7726680" y="4663440"/>
            <a:ext cx="3913632" cy="1417320"/>
          </a:xfrm>
          <a:prstGeom prst="roundRect">
            <a:avLst>
              <a:gd name="adj" fmla="val 9032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001000" y="4773168"/>
            <a:ext cx="3364992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Nível médio dado pelo Jev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humano deu 0  →  3,4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humano deu 200  →  4,1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PRÁTICA · ETAPA 5 · DISCRIMINAÇÃO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que empilhar tudo num nível é tão ruim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737360"/>
            <a:ext cx="5449824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19933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5430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1600200" y="1847088"/>
            <a:ext cx="4123944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nota não informa nada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85 de 100 redações tiraram 160. Saber que uma redação tirou 160 não diz se ela é boa ou ruim.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90488" y="1737360"/>
            <a:ext cx="5449824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10528" y="19933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5430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7242048" y="1847088"/>
            <a:ext cx="4123944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Nem para ranquear serve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mesmo nível 4 estão redações que o humano deu 0 e redações que ele deu 200. Não dá para ordenar quem está empatado.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3931920"/>
            <a:ext cx="5449824" cy="2011680"/>
          </a:xfrm>
          <a:prstGeom prst="roundRect">
            <a:avLst>
              <a:gd name="adj" fmla="val 6364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8680" y="41879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C3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4041648"/>
            <a:ext cx="4123944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 se esconde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4DA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confiança média em C3 é 0,84 — a mais alta das cinco competências. A fila de revisão humana deixa justamente esses casos passarem.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90488" y="3931920"/>
            <a:ext cx="5449824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10528" y="41879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5430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3600" dirty="0"/>
          </a:p>
        </p:txBody>
      </p:sp>
      <p:sp>
        <p:nvSpPr>
          <p:cNvPr id="18" name="Text 15"/>
          <p:cNvSpPr txBox="1"/>
          <p:nvPr/>
        </p:nvSpPr>
        <p:spPr>
          <a:xfrm>
            <a:off x="7242048" y="4041648"/>
            <a:ext cx="4123944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Ajuste não resolve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Somar ou subtrair uma constante move todo mundo junto: se estão todos no 4, vão todos para o 3. Continuam iguais entre si.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PRÁTICA · ETAPA 5 · DIAGNÓSTICO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saber qual é o problema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200400" cy="1051560"/>
          </a:xfrm>
          <a:prstGeom prst="roundRect">
            <a:avLst>
              <a:gd name="adj" fmla="val 12174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1801368"/>
            <a:ext cx="26517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3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Pergunta 1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Jev usa vários níveis da escala?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1691640"/>
            <a:ext cx="822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→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0" y="1691640"/>
            <a:ext cx="2926080" cy="1051560"/>
          </a:xfrm>
          <a:prstGeom prst="roundRect">
            <a:avLst>
              <a:gd name="adj" fmla="val 12174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46320" y="1801368"/>
            <a:ext cx="2377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Discriminação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Empilha quase tudo num nível só.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27432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↓ sim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3200400" cy="1051560"/>
          </a:xfrm>
          <a:prstGeom prst="roundRect">
            <a:avLst>
              <a:gd name="adj" fmla="val 12174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3310128"/>
            <a:ext cx="26517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3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Pergunta 2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 erra quase sempre para o mesmo lado?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749040" y="3200400"/>
            <a:ext cx="822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sim →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572000" y="3200400"/>
            <a:ext cx="2926080" cy="1051560"/>
          </a:xfrm>
          <a:prstGeom prst="roundRect">
            <a:avLst>
              <a:gd name="adj" fmla="val 12174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310128"/>
            <a:ext cx="2377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Calibração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 a escala, mas deslocada.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42519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↓ não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48640" y="4709160"/>
            <a:ext cx="694944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4818888"/>
            <a:ext cx="64008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Ruído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Erra para os dois lados, sem padrão. Não é uma régua torta: pode ser amostra pequena ou o limite do modelo naquela competência.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726680" y="1691640"/>
            <a:ext cx="3913632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001000" y="1801368"/>
            <a:ext cx="3364992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C1 · escrita formal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 4 níveis. Erra 1 nível para baixo em 48% das redações. Viés −23.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calibração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7726680" y="3977640"/>
            <a:ext cx="3913632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001000" y="4087368"/>
            <a:ext cx="3364992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C3 · argumentação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85% num nível só. Nota 0 e nota 200 recebem o mesmo nível. Confiança 0,84.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discriminação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PRÁTICA · ETAPA 6 · A CAUSA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que o C3 empilha tudo no nível 4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6916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rubric.json (v1) · C3 · as duas âncoras vizinhas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694944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2468880"/>
            <a:ext cx="731520" cy="731520"/>
          </a:xfrm>
          <a:prstGeom prst="roundRect">
            <a:avLst>
              <a:gd name="adj" fmla="val 15000"/>
            </a:avLst>
          </a:prstGeom>
          <a:solidFill>
            <a:srgbClr val="EBE7F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2960" y="2468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26440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120 pts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2194560"/>
            <a:ext cx="5303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Informações e argumentos relacionados ao tema, mas organizados de forma </a:t>
            </a:r>
            <a:pPr indent="0" marL="0">
              <a:buNone/>
            </a:pPr>
            <a:r>
              <a:rPr lang="en-US" sz="17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previsível</a:t>
            </a:r>
            <a:pPr indent="0" marL="0">
              <a:buNone/>
            </a:pPr>
            <a:r>
              <a:rPr lang="en-US" sz="17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 </a:t>
            </a:r>
            <a:pPr indent="0" marL="0">
              <a:buNone/>
            </a:pPr>
            <a:r>
              <a:rPr lang="en-US" sz="17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pouco desenvolvidos</a:t>
            </a:r>
            <a:pPr indent="0" marL="0">
              <a:buNone/>
            </a:pPr>
            <a:r>
              <a:rPr lang="en-US" sz="17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com projeto de texto </a:t>
            </a:r>
            <a:pPr indent="0" marL="0">
              <a:buNone/>
            </a:pPr>
            <a:r>
              <a:rPr lang="en-US" sz="17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incipiente</a:t>
            </a:r>
            <a:pPr indent="0" marL="0">
              <a:buNone/>
            </a:pPr>
            <a:r>
              <a:rPr lang="en-US" sz="17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48640" y="4114800"/>
            <a:ext cx="694944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22960" y="4526280"/>
            <a:ext cx="731520" cy="731520"/>
          </a:xfrm>
          <a:prstGeom prst="roundRect">
            <a:avLst>
              <a:gd name="adj" fmla="val 15000"/>
            </a:avLst>
          </a:prstGeom>
          <a:solidFill>
            <a:srgbClr val="FFC3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22960" y="4526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532180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160 pts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920240" y="4251960"/>
            <a:ext cx="5303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Informações e argumentos organizados de forma </a:t>
            </a:r>
            <a:pPr indent="0" marL="0">
              <a:buNone/>
            </a:pPr>
            <a:r>
              <a:rPr lang="en-US" sz="17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consistente</a:t>
            </a:r>
            <a:pPr indent="0" marL="0">
              <a:buNone/>
            </a:pPr>
            <a:r>
              <a:rPr lang="en-US" sz="17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com projeto de texto </a:t>
            </a:r>
            <a:pPr indent="0" marL="0">
              <a:buNone/>
            </a:pPr>
            <a:r>
              <a:rPr lang="en-US" sz="17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perceptível</a:t>
            </a:r>
            <a:pPr indent="0" marL="0">
              <a:buNone/>
            </a:pPr>
            <a:r>
              <a:rPr lang="en-US" sz="17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 defesa </a:t>
            </a:r>
            <a:pPr indent="0" marL="0">
              <a:buNone/>
            </a:pPr>
            <a:r>
              <a:rPr lang="en-US" sz="17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clara</a:t>
            </a:r>
            <a:pPr indent="0" marL="0">
              <a:buNone/>
            </a:pPr>
            <a:r>
              <a:rPr lang="en-US" sz="17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de um ponto de vista.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7726680" y="1691640"/>
            <a:ext cx="3913632" cy="2103120"/>
          </a:xfrm>
          <a:prstGeom prst="roundRect">
            <a:avLst>
              <a:gd name="adj" fmla="val 6087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01000" y="1801368"/>
            <a:ext cx="3364992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3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Pergunta para a turma</a:t>
            </a:r>
            <a:endParaRPr lang="en-US" sz="17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redação mediana, o projeto de texto é “incipiente” ou “perceptível”?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7726680" y="3977640"/>
            <a:ext cx="3913632" cy="2103120"/>
          </a:xfrm>
          <a:prstGeom prst="roundRect">
            <a:avLst>
              <a:gd name="adj" fmla="val 6087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01000" y="4087368"/>
            <a:ext cx="3364992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Nada no texto decide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“Previsível”, “consistente” e “perceptível” são impressões, não fatos. Sem algo que dê para conferir, o modelo fica no nível que soa razoável para quase tudo — e com confiança alta.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PRÁTICA · ETAPA 6 · CONSERTO DA DISCRIMINAÇÃO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Troque impressões por contagens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69164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Antes · impressão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46520" y="1691640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Depois · contagem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2057400"/>
            <a:ext cx="594360" cy="1188720"/>
          </a:xfrm>
          <a:prstGeom prst="roundRect">
            <a:avLst>
              <a:gd name="adj" fmla="val 15385"/>
            </a:avLst>
          </a:prstGeom>
          <a:solidFill>
            <a:srgbClr val="EBE7F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8640" y="2057400"/>
            <a:ext cx="594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120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280160" y="2057400"/>
            <a:ext cx="4617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554480" y="2167128"/>
            <a:ext cx="40690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…organizados de forma previsível e pouco desenvolvidos, com projeto de texto incipiente.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897880" y="2057400"/>
            <a:ext cx="548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6446520" y="2057400"/>
            <a:ext cx="5193792" cy="1188720"/>
          </a:xfrm>
          <a:prstGeom prst="roundRect">
            <a:avLst>
              <a:gd name="adj" fmla="val 10769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20840" y="2167128"/>
            <a:ext cx="46451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argumentos desenvolvidos, nenhum com evidência concreta.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3383280"/>
            <a:ext cx="594360" cy="1188720"/>
          </a:xfrm>
          <a:prstGeom prst="roundRect">
            <a:avLst>
              <a:gd name="adj" fmla="val 15385"/>
            </a:avLst>
          </a:prstGeom>
          <a:solidFill>
            <a:srgbClr val="FFC3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48640" y="3383280"/>
            <a:ext cx="594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160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1280160" y="3383280"/>
            <a:ext cx="4617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554480" y="3493008"/>
            <a:ext cx="40690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…organizados de forma consistente, com projeto de texto perceptível e defesa clara de um ponto de vista.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897880" y="3383280"/>
            <a:ext cx="548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6446520" y="3383280"/>
            <a:ext cx="5193792" cy="1188720"/>
          </a:xfrm>
          <a:prstGeom prst="roundRect">
            <a:avLst>
              <a:gd name="adj" fmla="val 10769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20840" y="3493008"/>
            <a:ext cx="46451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ou mais argumentos desenvolvidos, ao menos 1 com evidência concreta (dado, fato, exemplo nomeado).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548640" y="4754880"/>
            <a:ext cx="571500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4864608"/>
            <a:ext cx="51663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campo instructions, ensine a contar: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“Conte os argumentos DESENVOLVIDOS (afirmação + justificativa; frase solta não conta) e veja se cada um traz evidência concreta.”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446520" y="4754880"/>
            <a:ext cx="5193792" cy="1325880"/>
          </a:xfrm>
          <a:prstGeom prst="roundRect">
            <a:avLst>
              <a:gd name="adj" fmla="val 9655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720840" y="4864608"/>
            <a:ext cx="464515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3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que funciona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pergunta tem resposta no texto. Redações com 1, 2 ou 3 argumentos caem em níveis diferentes — e a torre se desfaz.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PRÁTICA · ETAPA 6 · CONSERTO DA CALIBRAÇÃO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Mova a régua, sem trocar o estilo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C31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17373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Jev escolhe a âncora que melhor descreve a redação. Ele nunca pensa em pontos.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30632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C31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234440" y="283464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Das 41 redações que o humano deu 120 em C1, o Jev deu 80 para 22: elas pareceram “muitos desvios”, o nível 2.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41605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C31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3931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ele dar 120, a âncora do nível 3 precisa descrever essas redações. Afrouxe o que o nível 3 exige — e ajuste os vizinhos.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1691640"/>
            <a:ext cx="5239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de direção · C1, nível 3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00800" y="2057400"/>
            <a:ext cx="5239512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675120" y="2167128"/>
            <a:ext cx="46908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antes  </a:t>
            </a:r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Domínio mediano: o texto é majoritariamente correto, mas há desvios gramaticais e de convenções da escrita em quantidade perceptível.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3246120"/>
            <a:ext cx="5239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↓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400800" y="3566160"/>
            <a:ext cx="5239512" cy="1188720"/>
          </a:xfrm>
          <a:prstGeom prst="roundRect">
            <a:avLst>
              <a:gd name="adj" fmla="val 10769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675120" y="3675888"/>
            <a:ext cx="46908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depois  </a:t>
            </a:r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Domínio mediano: há desvios em vários trechos, alguns repetidos, mas a leitura flui e o registro formal se mantém.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400800" y="4773168"/>
            <a:ext cx="5239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 um exemplo, não o gabarito: escreva a sua.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48640" y="5166360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8680" y="51663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que não contar desvios em C1? </a:t>
            </a:r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Contar faz o modelo caçar cada erro — e quem já era severo fica mais severo. Contagem é remédio para discriminação, não para calibração.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PRÁTICA · ETAPA 6 · USA A API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Sua rubrica: diagnosticar, editar, re-rodar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449824" cy="2103120"/>
          </a:xfrm>
          <a:prstGeom prst="roundRect">
            <a:avLst>
              <a:gd name="adj" fmla="val 6087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1801368"/>
            <a:ext cx="490118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3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Alvo A · C3 (discriminação)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Reescreva as âncoras como contagens. Deu certo se o C3 passar a usar 3 ou mais níveis nas 10 redações — antes eram só 2.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3977640"/>
            <a:ext cx="5449824" cy="2103120"/>
          </a:xfrm>
          <a:prstGeom prst="roundRect">
            <a:avLst>
              <a:gd name="adj" fmla="val 6087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4087368"/>
            <a:ext cx="490118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Alvo B · C1 (calibração)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Afrouxe o que cada nível exige, no mesmo estilo. Deu certo se o viés de C1 sair de −34 em direção a 0 nas mesmas 10 redações.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190488" y="1691640"/>
            <a:ext cx="5449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Regras técnicas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057400"/>
            <a:ext cx="54498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Exatamente 6 âncoras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em cada criteria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Ordem crescente: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posição 0 = pior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JSON válido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 limiar_confianca: 0.7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190488" y="3337560"/>
            <a:ext cx="5449824" cy="2743200"/>
          </a:xfrm>
          <a:prstGeom prst="roundRect">
            <a:avLst>
              <a:gd name="adj" fmla="val 4000"/>
            </a:avLst>
          </a:prstGeom>
          <a:solidFill>
            <a:srgbClr val="16102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64808" y="3520440"/>
            <a:ext cx="490118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C31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$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python3 evaluate.py --dry-run \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--sample sample-mini.jsonl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C31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$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python3 evaluate.py \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--sample sample-mini.jsonl \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--cache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C31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resultados-meus-v2.jsonl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C31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$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python3 compare.py --cache \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resultados-meus-v2.jsonl \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--sample sample-mini.jsonl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PRÁTICA · ETAPA 6 · A REGRA DA HONESTIDADE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10 redações conseguem provar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29184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18745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5430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0,495</a:t>
            </a:r>
            <a:endParaRPr lang="en-US" sz="5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9260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QWK da referência em 100 redações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023360" y="1691640"/>
            <a:ext cx="3291840" cy="2194560"/>
          </a:xfrm>
          <a:prstGeom prst="roundRect">
            <a:avLst>
              <a:gd name="adj" fmla="val 5833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18745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0,615</a:t>
            </a:r>
            <a:endParaRPr lang="en-US" sz="5200" dirty="0"/>
          </a:p>
        </p:txBody>
      </p:sp>
      <p:sp>
        <p:nvSpPr>
          <p:cNvPr id="12" name="Text 9"/>
          <p:cNvSpPr txBox="1"/>
          <p:nvPr/>
        </p:nvSpPr>
        <p:spPr>
          <a:xfrm>
            <a:off x="4297680" y="29260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mesma rubrica, nas 10 da mini-amostra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411480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Mesmos dados, mesma rubrica. A diferença de 0,12 é só ruído de amostra pequena.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98348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uma mudança de 0,05 no QWK ser real, seriam necessárias ~300 redações.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726680" y="1691640"/>
            <a:ext cx="3913632" cy="4389120"/>
          </a:xfrm>
          <a:prstGeom prst="roundRect">
            <a:avLst>
              <a:gd name="adj" fmla="val 3271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001000" y="1874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C3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Mire no grosso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2468880"/>
            <a:ext cx="3429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nível que não era usado passou a ser usado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viés de +40 virou +10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Uma competência que dava a mesma nota para tudo passou a variar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001000" y="51206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E4DA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a terceira casa decimal.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PRÁTICA · ETAPA 6 · O GABARITO (SÓ DEPOIS DE RODAREM)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o laboratório original encontrou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38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6583680" cy="457200"/>
          </a:xfrm>
          <a:prstGeom prst="rect">
            <a:avLst/>
          </a:prstGeom>
          <a:solidFill>
            <a:srgbClr val="5922A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6916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16916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343400" y="16916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v2 contagens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806440" y="16916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Δ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2148840"/>
            <a:ext cx="6583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214884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C1 escrita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880360" y="214884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0,410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343400" y="214884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0,196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806440" y="214884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645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−0,213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48640" y="2715768"/>
            <a:ext cx="6583680" cy="566928"/>
          </a:xfrm>
          <a:prstGeom prst="rect">
            <a:avLst/>
          </a:prstGeom>
          <a:solidFill>
            <a:srgbClr val="FAFAFA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27157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C2 tema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880360" y="271576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0,454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343400" y="271576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0,231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806440" y="271576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645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−0,224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8640" y="3282696"/>
            <a:ext cx="6583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328269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C3 argumentação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880360" y="3282696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0,123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343400" y="3282696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0,160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806440" y="3282696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9D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+0,038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48640" y="3849624"/>
            <a:ext cx="6583680" cy="566928"/>
          </a:xfrm>
          <a:prstGeom prst="rect">
            <a:avLst/>
          </a:prstGeom>
          <a:solidFill>
            <a:srgbClr val="FAFAFA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5800" y="384962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C4 coesão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880360" y="3849624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0,391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343400" y="3849624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0,431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806440" y="3849624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9D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+0,039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548640" y="4416552"/>
            <a:ext cx="6583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85800" y="441655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C5 proposta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880360" y="4416552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0,281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343400" y="4416552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0,224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806440" y="4416552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645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−0,057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548640" y="4983480"/>
            <a:ext cx="6583680" cy="566928"/>
          </a:xfrm>
          <a:prstGeom prst="rect">
            <a:avLst/>
          </a:prstGeom>
          <a:solidFill>
            <a:srgbClr val="EBE7F5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85800" y="49834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880360" y="498348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0,429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343400" y="498348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0,377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806440" y="498348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6454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−0,053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548640" y="58064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Validado em 100 redações de outro split (desenvolvimento)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7498080" y="1691640"/>
            <a:ext cx="4142232" cy="2377440"/>
          </a:xfrm>
          <a:prstGeom prst="roundRect">
            <a:avLst>
              <a:gd name="adj" fmla="val 5385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772400" y="178308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v2 piorou no geral — </a:t>
            </a:r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 é o resultado mais instrutivo do projeto. Contagens ajudam onde o problema é discriminação (C3, C4) e atrapalham onde é calibração (C1, C2, C5).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7498080" y="4251960"/>
            <a:ext cx="4142232" cy="1828800"/>
          </a:xfrm>
          <a:prstGeom prst="roundRect">
            <a:avLst>
              <a:gd name="adj" fmla="val 7000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772400" y="4343400"/>
            <a:ext cx="3611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3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v3 híbrida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(rubric-referencia-v3.json): contagens em C3/C4, descritivas no resto. Validação incompleta — ainda sem número confiável.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PRÁTICA · ETAPA 7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Publique o resultado num pull request</a:t>
            </a:r>
            <a:endParaRPr lang="en-US" sz="3000" dirty="0"/>
          </a:p>
        </p:txBody>
      </p:sp>
      <p:pic>
        <p:nvPicPr>
          <p:cNvPr id="4" name="Image 0" descr="/home/claude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Workshop JEV · WebTech Network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39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69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NOTAS.md — o corpo do seu PR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103120"/>
            <a:ext cx="5449824" cy="54864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1031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## O que eu mudei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761488"/>
            <a:ext cx="5449824" cy="54864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276148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## Por quê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3419856"/>
            <a:ext cx="5449824" cy="54864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41985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## Hipótese (escrita antes de rodar)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4078224"/>
            <a:ext cx="5449824" cy="54864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40782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## Resultado: antes × depois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4736592"/>
            <a:ext cx="5449824" cy="548640"/>
          </a:xfrm>
          <a:prstGeom prst="roundRect">
            <a:avLst>
              <a:gd name="adj" fmla="val 23333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7240" y="473659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## O que eu NÃO posso concluir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5394960"/>
            <a:ext cx="5449824" cy="54864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77240" y="53949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## O que eu tentaria com mais orçamento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190488" y="1691640"/>
            <a:ext cx="5449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922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Antes de qualquer git add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190488" y="2057400"/>
            <a:ext cx="5449824" cy="2514600"/>
          </a:xfrm>
          <a:prstGeom prst="roundRect">
            <a:avLst>
              <a:gd name="adj" fmla="val 4364"/>
            </a:avLst>
          </a:prstGeom>
          <a:solidFill>
            <a:srgbClr val="16102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64808" y="2240280"/>
            <a:ext cx="490118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C31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$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git check-ignore -v .env.local \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debug resultados-meus-v2.jsonl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C31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$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git add rubric.json NOTAS.md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C31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$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git commit -m "Reescreve ancoras de C3"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C31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$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git push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C31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$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DE9F7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gh pr create --body-file NOTAS.md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190488" y="4754880"/>
            <a:ext cx="5449824" cy="1325880"/>
          </a:xfrm>
          <a:prstGeom prst="roundRect">
            <a:avLst>
              <a:gd name="adj" fmla="val 9655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46520" y="4800600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Revisão cruzada: </a:t>
            </a:r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pegue o PR de um colega e comente uma coisa — a conclusão é sustentada pelo tamanho da amostra?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5922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C3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VOCÊ LEVA DAQUI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Nada disso é específico do Jev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47872" cy="2011680"/>
          </a:xfrm>
          <a:prstGeom prst="roundRect">
            <a:avLst>
              <a:gd name="adj" fmla="val 6364"/>
            </a:avLst>
          </a:prstGeom>
          <a:solidFill>
            <a:srgbClr val="6A35B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C3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Decisão tipada ≠ LLM generativo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5468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DA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ferramentas diferentes para problemas diferentes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15968" y="1737360"/>
            <a:ext cx="3547872" cy="2011680"/>
          </a:xfrm>
          <a:prstGeom prst="roundRect">
            <a:avLst>
              <a:gd name="adj" fmla="val 6364"/>
            </a:avLst>
          </a:prstGeom>
          <a:solidFill>
            <a:srgbClr val="6A35B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90288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C3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590288" y="251460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 grandeza esse número mede?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90288" y="315468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DA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score parecia nível e era valor esperado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83296" y="1737360"/>
            <a:ext cx="3547872" cy="2011680"/>
          </a:xfrm>
          <a:prstGeom prst="roundRect">
            <a:avLst>
              <a:gd name="adj" fmla="val 6364"/>
            </a:avLst>
          </a:prstGeom>
          <a:solidFill>
            <a:srgbClr val="6A35B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57616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C3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357616" y="251460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Grave o cru, derive depois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357616" y="315468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DA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perguntas novas sem chamadas novas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3547872" cy="2011680"/>
          </a:xfrm>
          <a:prstGeom prst="roundRect">
            <a:avLst>
              <a:gd name="adj" fmla="val 6364"/>
            </a:avLst>
          </a:prstGeom>
          <a:solidFill>
            <a:srgbClr val="6A35B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160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C3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70916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Relatório sem baseline é propaganda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34924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DA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5% exato era o mesmo que chutar 600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315968" y="3931920"/>
            <a:ext cx="3547872" cy="2011680"/>
          </a:xfrm>
          <a:prstGeom prst="roundRect">
            <a:avLst>
              <a:gd name="adj" fmla="val 6364"/>
            </a:avLst>
          </a:prstGeom>
          <a:solidFill>
            <a:srgbClr val="6A35B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90288" y="4160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C3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4590288" y="470916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Diagnostique antes de consertar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90288" y="534924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DA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viés e falta de discriminação pedem consertos opostos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083296" y="3931920"/>
            <a:ext cx="3547872" cy="2011680"/>
          </a:xfrm>
          <a:prstGeom prst="roundRect">
            <a:avLst>
              <a:gd name="adj" fmla="val 6364"/>
            </a:avLst>
          </a:prstGeom>
          <a:solidFill>
            <a:srgbClr val="6A35B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357616" y="4160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C3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357616" y="470916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Diga onde o número não existe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357616" y="534924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DA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 o que separa engenharia de marketing</a:t>
            </a:r>
            <a:endParaRPr lang="en-US" sz="1300" dirty="0"/>
          </a:p>
        </p:txBody>
      </p:sp>
      <p:pic>
        <p:nvPicPr>
          <p:cNvPr id="28" name="Image 0" descr="/home/claude/deck/assets/logo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6172200"/>
            <a:ext cx="1417320" cy="533579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assets/logo-branc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1480"/>
            <a:ext cx="2103120" cy="79176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5544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Obrigado!</a:t>
            </a:r>
            <a:endParaRPr lang="en-US" sz="6000" dirty="0"/>
          </a:p>
        </p:txBody>
      </p:sp>
      <p:sp>
        <p:nvSpPr>
          <p:cNvPr id="4" name="Shape 1"/>
          <p:cNvSpPr/>
          <p:nvPr/>
        </p:nvSpPr>
        <p:spPr>
          <a:xfrm>
            <a:off x="548640" y="2834640"/>
            <a:ext cx="6492240" cy="566928"/>
          </a:xfrm>
          <a:prstGeom prst="roundRect">
            <a:avLst>
              <a:gd name="adj" fmla="val 50000"/>
            </a:avLst>
          </a:prstGeom>
          <a:solidFill>
            <a:srgbClr val="FFC31A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2834640"/>
            <a:ext cx="6492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github.com/webtech-network/workshop-jev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6118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Quer continuar? Feche a validação da v3, rode em ~300 redações ou construa a camada de feedback em texto.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Conhecimento compartilhado. Possibilidades multiplicadas.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bTech Network">
  <a:themeElements>
    <a:clrScheme name="WebTech Network">
      <a:dk1>
        <a:srgbClr val="0A0A0A"/>
      </a:dk1>
      <a:lt1>
        <a:srgbClr val="FFFFFF"/>
      </a:lt1>
      <a:dk2>
        <a:srgbClr val="5922A5"/>
      </a:dk2>
      <a:lt2>
        <a:srgbClr val="EBE7F5"/>
      </a:lt2>
      <a:accent1>
        <a:srgbClr val="5922A5"/>
      </a:accent1>
      <a:accent2>
        <a:srgbClr val="FFC31A"/>
      </a:accent2>
      <a:accent3>
        <a:srgbClr val="5430BF"/>
      </a:accent3>
      <a:accent4>
        <a:srgbClr val="B084FF"/>
      </a:accent4>
      <a:accent5>
        <a:srgbClr val="4B5563"/>
      </a:accent5>
      <a:accent6>
        <a:srgbClr val="9D8FCC"/>
      </a:accent6>
      <a:hlink>
        <a:srgbClr val="5430BF"/>
      </a:hlink>
      <a:folHlink>
        <a:srgbClr val="5922A5"/>
      </a:folHlink>
    </a:clrScheme>
    <a:fontScheme name="WebTech Network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WebTech Network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JEV — corrigindo redações com um modelo de decisão</dc:title>
  <dc:subject>Workshop JEV</dc:subject>
  <dc:creator>WebTech Network</dc:creator>
  <cp:lastModifiedBy>WebTech Network</cp:lastModifiedBy>
  <cp:revision>1</cp:revision>
  <dcterms:created xsi:type="dcterms:W3CDTF">2026-10-29T15:38:02Z</dcterms:created>
  <dcterms:modified xsi:type="dcterms:W3CDTF">2026-10-29T15:38:02Z</dcterms:modified>
</cp:coreProperties>
</file>